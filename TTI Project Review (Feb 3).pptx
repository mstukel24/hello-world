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Ex1.xml" ContentType="application/vnd.ms-office.chartex+xml"/>
  <Override PartName="/ppt/charts/style2.xml" ContentType="application/vnd.ms-office.chartstyle+xml"/>
  <Override PartName="/ppt/charts/colors2.xml" ContentType="application/vnd.ms-office.chartcolorstyl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
  </p:notesMasterIdLst>
  <p:sldIdLst>
    <p:sldId id="918" r:id="rId2"/>
    <p:sldId id="2563" r:id="rId3"/>
    <p:sldId id="2564" r:id="rId4"/>
    <p:sldId id="2565" r:id="rId5"/>
    <p:sldId id="2566" r:id="rId6"/>
    <p:sldId id="2567" r:id="rId7"/>
    <p:sldId id="91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02" d="100"/>
          <a:sy n="102" d="100"/>
        </p:scale>
        <p:origin x="192"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Ex1.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1"/>
            <c:invertIfNegative val="0"/>
            <c:bubble3D val="0"/>
            <c:spPr>
              <a:solidFill>
                <a:srgbClr val="63676B"/>
              </a:solidFill>
              <a:ln>
                <a:noFill/>
              </a:ln>
              <a:effectLst/>
            </c:spPr>
            <c:extLst>
              <c:ext xmlns:c16="http://schemas.microsoft.com/office/drawing/2014/chart" uri="{C3380CC4-5D6E-409C-BE32-E72D297353CC}">
                <c16:uniqueId val="{00000001-BEE0-4A5B-B5DD-3E5C3C70D22F}"/>
              </c:ext>
            </c:extLst>
          </c:dPt>
          <c:dPt>
            <c:idx val="2"/>
            <c:invertIfNegative val="0"/>
            <c:bubble3D val="0"/>
            <c:spPr>
              <a:solidFill>
                <a:schemeClr val="tx1"/>
              </a:solidFill>
              <a:ln>
                <a:noFill/>
              </a:ln>
              <a:effectLst/>
            </c:spPr>
            <c:extLst>
              <c:ext xmlns:c16="http://schemas.microsoft.com/office/drawing/2014/chart" uri="{C3380CC4-5D6E-409C-BE32-E72D297353CC}">
                <c16:uniqueId val="{00000003-BEE0-4A5B-B5DD-3E5C3C70D22F}"/>
              </c:ext>
            </c:extLst>
          </c:dPt>
          <c:dPt>
            <c:idx val="3"/>
            <c:invertIfNegative val="0"/>
            <c:bubble3D val="0"/>
            <c:spPr>
              <a:solidFill>
                <a:srgbClr val="BBBCBC"/>
              </a:solidFill>
              <a:ln>
                <a:noFill/>
              </a:ln>
              <a:effectLst/>
            </c:spPr>
            <c:extLst>
              <c:ext xmlns:c16="http://schemas.microsoft.com/office/drawing/2014/chart" uri="{C3380CC4-5D6E-409C-BE32-E72D297353CC}">
                <c16:uniqueId val="{00000005-BEE0-4A5B-B5DD-3E5C3C70D22F}"/>
              </c:ext>
            </c:extLst>
          </c:dPt>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c:v>
                </c:pt>
                <c:pt idx="1">
                  <c:v>3</c:v>
                </c:pt>
                <c:pt idx="2">
                  <c:v>2</c:v>
                </c:pt>
                <c:pt idx="3">
                  <c:v>1</c:v>
                </c:pt>
              </c:numCache>
            </c:numRef>
          </c:val>
          <c:extLst>
            <c:ext xmlns:c16="http://schemas.microsoft.com/office/drawing/2014/chart" uri="{C3380CC4-5D6E-409C-BE32-E72D297353CC}">
              <c16:uniqueId val="{00000006-BEE0-4A5B-B5DD-3E5C3C70D22F}"/>
            </c:ext>
          </c:extLst>
        </c:ser>
        <c:dLbls>
          <c:showLegendKey val="0"/>
          <c:showVal val="0"/>
          <c:showCatName val="0"/>
          <c:showSerName val="0"/>
          <c:showPercent val="0"/>
          <c:showBubbleSize val="0"/>
        </c:dLbls>
        <c:gapWidth val="80"/>
        <c:overlap val="-27"/>
        <c:axId val="612859016"/>
        <c:axId val="612862952"/>
      </c:barChart>
      <c:catAx>
        <c:axId val="612859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12862952"/>
        <c:crosses val="autoZero"/>
        <c:auto val="1"/>
        <c:lblAlgn val="ctr"/>
        <c:lblOffset val="100"/>
        <c:noMultiLvlLbl val="0"/>
      </c:catAx>
      <c:valAx>
        <c:axId val="6128629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128590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Sheet1!$A$2:$A$5</cx:f>
        <cx:lvl ptCount="4">
          <cx:pt idx="0">1st Qtr</cx:pt>
          <cx:pt idx="1">2nd Qtr</cx:pt>
          <cx:pt idx="2">3rd Qtr</cx:pt>
          <cx:pt idx="3">4th Qtr</cx:pt>
        </cx:lvl>
      </cx:strDim>
      <cx:numDim type="size">
        <cx:f>Sheet1!$B$2:$B$5</cx:f>
        <cx:lvl ptCount="4" formatCode="General">
          <cx:pt idx="0">8.1999999999999993</cx:pt>
          <cx:pt idx="1">3.2000000000000002</cx:pt>
          <cx:pt idx="2">1.3999999999999999</cx:pt>
          <cx:pt idx="3">1.2</cx:pt>
        </cx:lvl>
      </cx:numDim>
    </cx:data>
  </cx:chartData>
  <cx:chart>
    <cx:title pos="t" align="ctr" overlay="0">
      <cx:tx>
        <cx:rich>
          <a:bodyPr rot="0" spcFirstLastPara="1" vertOverflow="ellipsis" vert="horz" wrap="square" lIns="38100" tIns="19050" rIns="38100" bIns="19050" anchor="ctr" anchorCtr="1" compatLnSpc="0"/>
          <a:lstStyle/>
          <a:p>
            <a:pPr algn="ctr" rtl="0">
              <a:defRPr sz="1862" b="0" i="0" u="none" strike="noStrike" kern="1200" spc="0" baseline="0">
                <a:solidFill>
                  <a:srgbClr val="000000">
                    <a:lumMod val="65000"/>
                    <a:lumOff val="35000"/>
                  </a:srgbClr>
                </a:solidFill>
                <a:latin typeface="+mn-lt"/>
                <a:ea typeface="+mn-ea"/>
                <a:cs typeface="+mn-cs"/>
              </a:defRPr>
            </a:pPr>
            <a:r>
              <a:rPr kumimoji="0" lang="en-US" sz="1862" b="0" i="0" u="none" strike="noStrike" kern="1200" cap="none" spc="0" normalizeH="0" baseline="0" noProof="0">
                <a:ln>
                  <a:noFill/>
                </a:ln>
                <a:solidFill>
                  <a:srgbClr val="000000">
                    <a:lumMod val="65000"/>
                    <a:lumOff val="35000"/>
                  </a:srgbClr>
                </a:solidFill>
                <a:effectLst/>
                <a:uLnTx/>
                <a:uFillTx/>
                <a:latin typeface="Arial" panose="020B0604020202020204"/>
              </a:rPr>
              <a:t>Donut Chart</a:t>
            </a:r>
            <a:endParaRPr lang="en-US"/>
          </a:p>
        </cx:rich>
      </cx:tx>
    </cx:title>
    <cx:plotArea>
      <cx:plotAreaRegion>
        <cx:series layoutId="sunburst" uniqueId="{F3F0649F-59E4-4A28-AD41-18536ADB3556}">
          <cx:tx>
            <cx:txData>
              <cx:f>Sheet1!$B$1</cx:f>
              <cx:v>Sales</cx:v>
            </cx:txData>
          </cx:tx>
          <cx:dataPt idx="1">
            <cx:spPr>
              <a:solidFill>
                <a:srgbClr val="000000"/>
              </a:solidFill>
            </cx:spPr>
          </cx:dataPt>
          <cx:dataPt idx="2">
            <cx:spPr>
              <a:solidFill>
                <a:srgbClr val="63676B"/>
              </a:solidFill>
            </cx:spPr>
          </cx:dataPt>
          <cx:dataPt idx="3">
            <cx:spPr>
              <a:solidFill>
                <a:srgbClr val="00558C"/>
              </a:solidFill>
            </cx:spPr>
          </cx:dataPt>
          <cx:dataId val="0"/>
        </cx:series>
      </cx:plotAreaRegion>
    </cx:plotArea>
    <cx:legend pos="b" align="ctr" overlay="0"/>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481366-00F5-E242-9ED1-BF68BA56C912}" type="datetimeFigureOut">
              <a:rPr lang="en-US" smtClean="0"/>
              <a:t>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C12677-9E58-F448-9810-7199D54FD9EC}" type="slidenum">
              <a:rPr lang="en-US" smtClean="0"/>
              <a:t>‹#›</a:t>
            </a:fld>
            <a:endParaRPr lang="en-US"/>
          </a:p>
        </p:txBody>
      </p:sp>
    </p:spTree>
    <p:extLst>
      <p:ext uri="{BB962C8B-B14F-4D97-AF65-F5344CB8AC3E}">
        <p14:creationId xmlns:p14="http://schemas.microsoft.com/office/powerpoint/2010/main" val="626446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SWOT analysis provides a structured way to examine a company's internal strengths and weaknesses alongside the external opportunities and threats that influence its competitive performance. Strengths typically represent internal attributes such as strong brand recognition, durable products, an established distribution network, or loyal customers. These strengths give the company a solid foundation from which to compete. Weaknesses, on the other hand, include internal limitations such as a narrow product line, outdated technology, limited marketing investment, or inconsistent product quality—all of which can hinder growth if not addressed. Opportunities represent favorable trends or shifts in the market—such as increasing consumer interest in DIY home improvement, advancements in home-cleaning technologies, or growing demand for eco‑friendly and cordless tools—that create a space for the company to innovate or expand. Finally, threats refer to external pressures that may erode competitiveness, such as strong rivals entering or dominating the market, rising production costs, or changing consumer preferences. By understanding these four components holistically, managers can prioritize strategic actions that build on strengths, minimize weaknesses, capitalize on new opportunities, and mitigate looming threats. This foundational analysis supports better long-term planning, smarter resource allocation, and more precise positioning in a crowded marketplace. The SWOT framework ultimately helps a company remain flexible and informed as industry, technology, and customer expectations evolve.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1F7CA7-0E40-43DB-88B4-0F77B1853746}"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0065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Competitor analysis focuses on identifying major rivals and evaluating how the company compares to them across key performance categories. This includes analyzing product features, pricing structure, innovation pace, distribution coverage, and marketing strategies. For example, a company in the home‑cleaning or power‑tool market might compare itself against established competitors such as Hoover, Ryobi, or Milwaukee to determine where it stands in terms of durability, performance, brand loyalty, and consumer trust. Understanding competitors’ strengths—such as broad product portfolios, aggressive advertising, or technologically advanced offerings—helps reveal what the company must match or exceed to remain relevant. At the same time, identifying competitor weaknesses—such as high prices, limited product customization, or inconsistent customer service—helps reveal opportunities to differentiate. Market share comparisons provide additional context by showing which brands dominate consumer attention and purchasing behavior. Competitor pricing analysis can uncover whether a brand positions itself as premium, value-driven, or somewhere in between. This comprehensive evaluation equips the company to refine its strategy, identify unmet customer needs, anticipate shifts in competitive dynamics, and determine the most effective way to stand out in a heavily contested market.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1F7CA7-0E40-43DB-88B4-0F77B1853746}"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2125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Customer analysis helps determine who the company serves, what those customers need, and how they behave when making purchasing decisions. This includes identifying demographic variables such as age, income, household size, lifestyle, and geographic region. For example, customers seeking cleaning appliances or power tools may include homeowners, renters, DIY enthusiasts, or professional contractors. Each group has distinct needs: homeowners might prioritize convenience and ease of use, while contractors typically value durability and high performance. Behavioral insights—such as where customers shop, how they research products, and what influences their brand loyalty—provide deeper understanding of expectations and preferences. Some customers may rely heavily on online reviews and comparison tools, while others may prefer hands‑on evaluation in retail stores. Analyzing customer needs reveals why individuals choose certain brands: they may be motivated by affordability, long-lasting design, strong warranties, or innovative features such as cordless operation or smart‑home connectivity. By aligning product and marketing decisions with these user expectations, a company can more effectively meet demand, reduce friction in purchase decisions, and build lasting relationships with its target audience.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1F7CA7-0E40-43DB-88B4-0F77B1853746}"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7429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marketing mix—consisting of product, price, promotion, and place—helps explain how a brand positions itself in the market and communicates value to customers. Product decisions focus on what the company offers, including core features, design, quality, innovation, and packaging. In markets such as cleaning devices or power tools, product performance, battery life, weight, durability, and functionality are often key differentiators. Price reflects how the product is positioned along the value‑to‑premium spectrum and affects customer perception. Companies may adopt competitive pricing to attract budget‑conscious buyers or premium pricing to emphasize high performance and advanced features. Promotion encompasses all communication efforts such as advertising, influencer partnerships, digital campaigns, and in‑store displays. Effective promotion ensures that customers understand a product’s benefits and feel encouraged to choose it over competing brands. Place refers to the distribution strategy—whether products are sold through big‑box retailers, specialized stores, e‑commerce platforms, or direct‑to‑consumer channels. By optimizing each of the 4Ps, companies can create a cohesive strategy that aligns product value, pricing expectations, brand messaging, and customer accessibility.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1F7CA7-0E40-43DB-88B4-0F77B1853746}"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1256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Analyzing market trends helps identify new opportunities for product development and competitive growth. One notable trend is the rising consumer preference for eco‑friendly and energy‑efficient products, driven by broader sustainability awareness. This opens doors for companies to introduce recyclable materials, energy-saving motors, or reduced‑waste packaging. Another significant trend is the growth of cordless and battery‑powered devices, supported by advancements in lithium‑ion technology that offer longer run times, faster charging, and more power. Additionally, smart‑home integration is becoming increasingly important as consumers seek connected devices compatible with popular digital ecosystems. These technological advancements not only enhance convenience but also influence purchasing decisions. Competitive shifts, such as mergers, globalization of brands, or new market entrants, further shape the landscape. Companies that monitor these dynamics are better positioned to innovate early, capitalize on growing demand, and adapt their marketing strategies accordingly. Understanding these trends enables businesses to anticipate customer needs, refine product lines, and continue evolving in a rapidly changing environment.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1F7CA7-0E40-43DB-88B4-0F77B1853746}"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67477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1.xml"/><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0.png"/><Relationship Id="rId2" Type="http://schemas.microsoft.com/office/2014/relationships/chartEx" Target="../charts/chartEx1.xml"/><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Gold Pattern">
    <p:bg>
      <p:bgPr>
        <a:solidFill>
          <a:schemeClr val="accent1"/>
        </a:solidFill>
        <a:effectLst/>
      </p:bgPr>
    </p:bg>
    <p:spTree>
      <p:nvGrpSpPr>
        <p:cNvPr id="1" name=""/>
        <p:cNvGrpSpPr/>
        <p:nvPr/>
      </p:nvGrpSpPr>
      <p:grpSpPr>
        <a:xfrm>
          <a:off x="0" y="0"/>
          <a:ext cx="0" cy="0"/>
          <a:chOff x="0" y="0"/>
          <a:chExt cx="0" cy="0"/>
        </a:xfrm>
      </p:grpSpPr>
      <p:pic>
        <p:nvPicPr>
          <p:cNvPr id="17" name="Picture 16" descr="Background pattern&#10;&#10;Description automatically generated">
            <a:extLst>
              <a:ext uri="{FF2B5EF4-FFF2-40B4-BE49-F238E27FC236}">
                <a16:creationId xmlns:a16="http://schemas.microsoft.com/office/drawing/2014/main" id="{DCBB725B-C931-48FA-A34D-F4FE8074DA2B}"/>
              </a:ext>
            </a:extLst>
          </p:cNvPr>
          <p:cNvPicPr>
            <a:picLocks noChangeAspect="1"/>
          </p:cNvPicPr>
          <p:nvPr userDrawn="1"/>
        </p:nvPicPr>
        <p:blipFill rotWithShape="1">
          <a:blip r:embed="rId2">
            <a:alphaModFix amt="55000"/>
          </a:blip>
          <a:srcRect l="1" t="1" r="31995" b="32272"/>
          <a:stretch/>
        </p:blipFill>
        <p:spPr>
          <a:xfrm>
            <a:off x="-1" y="-1"/>
            <a:ext cx="12188952" cy="6858000"/>
          </a:xfrm>
          <a:prstGeom prst="rect">
            <a:avLst/>
          </a:prstGeom>
        </p:spPr>
      </p:pic>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838199" y="2677626"/>
            <a:ext cx="9144000" cy="1843238"/>
          </a:xfrm>
        </p:spPr>
        <p:txBody>
          <a:bodyPr anchor="t" anchorCtr="0">
            <a:normAutofit/>
          </a:bodyPr>
          <a:lstStyle>
            <a:lvl1pPr algn="l">
              <a:defRPr sz="6000" b="1">
                <a:solidFill>
                  <a:schemeClr val="tx1"/>
                </a:solidFill>
                <a:latin typeface="Arial" panose="020B0604020202020204" pitchFamily="34" charset="0"/>
                <a:cs typeface="Arial" panose="020B0604020202020204" pitchFamily="34" charset="0"/>
              </a:defRPr>
            </a:lvl1pPr>
          </a:lstStyle>
          <a:p>
            <a:r>
              <a:rPr lang="en-US"/>
              <a:t>Presentation Title Goes Right Here</a:t>
            </a:r>
          </a:p>
        </p:txBody>
      </p:sp>
      <p:sp>
        <p:nvSpPr>
          <p:cNvPr id="5" name="Subtitle 2">
            <a:extLst>
              <a:ext uri="{FF2B5EF4-FFF2-40B4-BE49-F238E27FC236}">
                <a16:creationId xmlns:a16="http://schemas.microsoft.com/office/drawing/2014/main" id="{7055E247-542B-D541-8F36-DBA97343BC92}"/>
              </a:ext>
            </a:extLst>
          </p:cNvPr>
          <p:cNvSpPr>
            <a:spLocks noGrp="1"/>
          </p:cNvSpPr>
          <p:nvPr>
            <p:ph type="subTitle" idx="1" hasCustomPrompt="1"/>
          </p:nvPr>
        </p:nvSpPr>
        <p:spPr>
          <a:xfrm>
            <a:off x="838199" y="4709626"/>
            <a:ext cx="9144000" cy="407460"/>
          </a:xfrm>
        </p:spPr>
        <p:txBody>
          <a:bodyPr/>
          <a:lstStyle>
            <a:lvl1pPr marL="0" indent="0" algn="l">
              <a:buNone/>
              <a:defRPr sz="24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PRESENTATION SUBTITLE</a:t>
            </a:r>
          </a:p>
        </p:txBody>
      </p:sp>
      <p:sp>
        <p:nvSpPr>
          <p:cNvPr id="6" name="Text Placeholder 15">
            <a:extLst>
              <a:ext uri="{FF2B5EF4-FFF2-40B4-BE49-F238E27FC236}">
                <a16:creationId xmlns:a16="http://schemas.microsoft.com/office/drawing/2014/main" id="{2BBC7A98-1B1E-8545-AABD-0F79723A230C}"/>
              </a:ext>
            </a:extLst>
          </p:cNvPr>
          <p:cNvSpPr>
            <a:spLocks noGrp="1"/>
          </p:cNvSpPr>
          <p:nvPr>
            <p:ph type="body" sz="quarter" idx="10" hasCustomPrompt="1"/>
          </p:nvPr>
        </p:nvSpPr>
        <p:spPr>
          <a:xfrm>
            <a:off x="838199" y="5087150"/>
            <a:ext cx="9144000" cy="463108"/>
          </a:xfrm>
        </p:spPr>
        <p:txBody>
          <a:bodyPr>
            <a:normAutofit/>
          </a:bodyPr>
          <a:lstStyle>
            <a:lvl1pPr marL="0" indent="0">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Month XX, 2020</a:t>
            </a:r>
          </a:p>
        </p:txBody>
      </p:sp>
      <p:sp>
        <p:nvSpPr>
          <p:cNvPr id="7" name="Footer Placeholder 4">
            <a:extLst>
              <a:ext uri="{FF2B5EF4-FFF2-40B4-BE49-F238E27FC236}">
                <a16:creationId xmlns:a16="http://schemas.microsoft.com/office/drawing/2014/main" id="{AA810B86-CAB7-EA43-BC2F-6E66762DC8D3}"/>
              </a:ext>
            </a:extLst>
          </p:cNvPr>
          <p:cNvSpPr>
            <a:spLocks noGrp="1"/>
          </p:cNvSpPr>
          <p:nvPr>
            <p:ph type="ftr" sz="quarter" idx="3"/>
          </p:nvPr>
        </p:nvSpPr>
        <p:spPr>
          <a:xfrm>
            <a:off x="850557" y="1774217"/>
            <a:ext cx="8684173" cy="365125"/>
          </a:xfrm>
          <a:prstGeom prst="rect">
            <a:avLst/>
          </a:prstGeom>
          <a:noFill/>
        </p:spPr>
        <p:txBody>
          <a:bodyPr vert="horz" lIns="91440" tIns="45720" rIns="91440" bIns="45720" rtlCol="0" anchor="ctr"/>
          <a:lstStyle>
            <a:lvl1pPr algn="l">
              <a:defRPr sz="2400" b="0">
                <a:solidFill>
                  <a:schemeClr val="tx1"/>
                </a:solidFill>
              </a:defRPr>
            </a:lvl1pPr>
          </a:lstStyle>
          <a:p>
            <a:r>
              <a:rPr lang="en-US"/>
              <a:t>Tippie College of Business</a:t>
            </a:r>
          </a:p>
        </p:txBody>
      </p:sp>
      <p:cxnSp>
        <p:nvCxnSpPr>
          <p:cNvPr id="8" name="Straight Connector 7">
            <a:extLst>
              <a:ext uri="{FF2B5EF4-FFF2-40B4-BE49-F238E27FC236}">
                <a16:creationId xmlns:a16="http://schemas.microsoft.com/office/drawing/2014/main" id="{C4E1A789-3A04-9240-BCEC-3DACF2B52870}"/>
              </a:ext>
            </a:extLst>
          </p:cNvPr>
          <p:cNvCxnSpPr>
            <a:cxnSpLocks/>
          </p:cNvCxnSpPr>
          <p:nvPr userDrawn="1"/>
        </p:nvCxnSpPr>
        <p:spPr>
          <a:xfrm>
            <a:off x="974127" y="2339665"/>
            <a:ext cx="768531"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5DF00D54-C8D4-4E80-ACDD-0B6EF86AD6CC}"/>
              </a:ext>
            </a:extLst>
          </p:cNvPr>
          <p:cNvPicPr>
            <a:picLocks noChangeAspect="1"/>
          </p:cNvPicPr>
          <p:nvPr userDrawn="1"/>
        </p:nvPicPr>
        <p:blipFill>
          <a:blip r:embed="rId3"/>
          <a:stretch>
            <a:fillRect/>
          </a:stretch>
        </p:blipFill>
        <p:spPr>
          <a:xfrm>
            <a:off x="8635313" y="1637"/>
            <a:ext cx="2693773" cy="1282349"/>
          </a:xfrm>
          <a:prstGeom prst="rect">
            <a:avLst/>
          </a:prstGeom>
        </p:spPr>
      </p:pic>
    </p:spTree>
    <p:extLst>
      <p:ext uri="{BB962C8B-B14F-4D97-AF65-F5344CB8AC3E}">
        <p14:creationId xmlns:p14="http://schemas.microsoft.com/office/powerpoint/2010/main" val="2236577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lide – Gold Pattern">
    <p:bg>
      <p:bgPr>
        <a:solidFill>
          <a:schemeClr val="accent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9292D79C-2CD2-4051-A787-7BB4B0556934}"/>
              </a:ext>
            </a:extLst>
          </p:cNvPr>
          <p:cNvPicPr>
            <a:picLocks noChangeAspect="1"/>
          </p:cNvPicPr>
          <p:nvPr userDrawn="1"/>
        </p:nvPicPr>
        <p:blipFill rotWithShape="1">
          <a:blip r:embed="rId2">
            <a:alphaModFix amt="55000"/>
          </a:blip>
          <a:srcRect l="1" t="1" r="31995" b="32272"/>
          <a:stretch/>
        </p:blipFill>
        <p:spPr>
          <a:xfrm>
            <a:off x="-1" y="-1"/>
            <a:ext cx="12188952" cy="6858000"/>
          </a:xfrm>
          <a:prstGeom prst="rect">
            <a:avLst/>
          </a:prstGeom>
        </p:spPr>
      </p:pic>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838199" y="2677626"/>
            <a:ext cx="9144000" cy="992326"/>
          </a:xfrm>
        </p:spPr>
        <p:txBody>
          <a:bodyPr anchor="t" anchorCtr="0">
            <a:normAutofit/>
          </a:bodyPr>
          <a:lstStyle>
            <a:lvl1pPr algn="l">
              <a:defRPr sz="6000" b="1">
                <a:solidFill>
                  <a:schemeClr val="tx1"/>
                </a:solidFill>
                <a:latin typeface="Arial" panose="020B0604020202020204" pitchFamily="34" charset="0"/>
                <a:cs typeface="Arial" panose="020B0604020202020204" pitchFamily="34" charset="0"/>
              </a:defRPr>
            </a:lvl1pPr>
          </a:lstStyle>
          <a:p>
            <a:r>
              <a:rPr lang="en-US"/>
              <a:t>Section Header</a:t>
            </a:r>
          </a:p>
        </p:txBody>
      </p:sp>
      <p:sp>
        <p:nvSpPr>
          <p:cNvPr id="5" name="Subtitle 2">
            <a:extLst>
              <a:ext uri="{FF2B5EF4-FFF2-40B4-BE49-F238E27FC236}">
                <a16:creationId xmlns:a16="http://schemas.microsoft.com/office/drawing/2014/main" id="{7055E247-542B-D541-8F36-DBA97343BC92}"/>
              </a:ext>
            </a:extLst>
          </p:cNvPr>
          <p:cNvSpPr>
            <a:spLocks noGrp="1"/>
          </p:cNvSpPr>
          <p:nvPr>
            <p:ph type="subTitle" idx="1" hasCustomPrompt="1"/>
          </p:nvPr>
        </p:nvSpPr>
        <p:spPr>
          <a:xfrm>
            <a:off x="838199" y="3637441"/>
            <a:ext cx="9144000" cy="407460"/>
          </a:xfrm>
        </p:spPr>
        <p:txBody>
          <a:bodyPr/>
          <a:lstStyle>
            <a:lvl1pPr marL="0" indent="0" algn="l">
              <a:buNone/>
              <a:defRPr sz="24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SUBTITLE</a:t>
            </a:r>
          </a:p>
        </p:txBody>
      </p:sp>
      <p:cxnSp>
        <p:nvCxnSpPr>
          <p:cNvPr id="8" name="Straight Connector 7">
            <a:extLst>
              <a:ext uri="{FF2B5EF4-FFF2-40B4-BE49-F238E27FC236}">
                <a16:creationId xmlns:a16="http://schemas.microsoft.com/office/drawing/2014/main" id="{C4E1A789-3A04-9240-BCEC-3DACF2B52870}"/>
              </a:ext>
            </a:extLst>
          </p:cNvPr>
          <p:cNvCxnSpPr>
            <a:cxnSpLocks/>
          </p:cNvCxnSpPr>
          <p:nvPr userDrawn="1"/>
        </p:nvCxnSpPr>
        <p:spPr>
          <a:xfrm>
            <a:off x="974127" y="2450876"/>
            <a:ext cx="768531"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4497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Bullet Slide – Gold Patter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AAEF4-B950-814D-A811-CD17BDDF049C}"/>
              </a:ext>
            </a:extLst>
          </p:cNvPr>
          <p:cNvSpPr>
            <a:spLocks noGrp="1"/>
          </p:cNvSpPr>
          <p:nvPr>
            <p:ph type="title"/>
          </p:nvPr>
        </p:nvSpPr>
        <p:spPr>
          <a:xfrm>
            <a:off x="739345" y="494273"/>
            <a:ext cx="10515600" cy="86908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FACD2525-98F9-924C-B8E5-083B38E28238}"/>
              </a:ext>
            </a:extLst>
          </p:cNvPr>
          <p:cNvSpPr>
            <a:spLocks noGrp="1"/>
          </p:cNvSpPr>
          <p:nvPr>
            <p:ph idx="1"/>
          </p:nvPr>
        </p:nvSpPr>
        <p:spPr>
          <a:xfrm>
            <a:off x="838200" y="1591689"/>
            <a:ext cx="10515600" cy="4388698"/>
          </a:xfrm>
        </p:spPr>
        <p:txBody>
          <a:bodyPr/>
          <a:lstStyle>
            <a:lvl1pPr marL="228600" indent="-228600">
              <a:buSzPct val="95000"/>
              <a:buFontTx/>
              <a:buBlip>
                <a:blip r:embed="rId2"/>
              </a:buBlip>
              <a:defRPr/>
            </a:lvl1pPr>
            <a:lvl2pPr marL="685800" indent="-228600">
              <a:buClr>
                <a:schemeClr val="tx2"/>
              </a:buClr>
              <a:buSzPct val="100000"/>
              <a:buFont typeface="Arial" panose="020B0604020202020204" pitchFamily="34" charset="0"/>
              <a:buChar char="•"/>
              <a:defRPr/>
            </a:lvl2pPr>
            <a:lvl3pPr marL="1143000" indent="-228600">
              <a:buClr>
                <a:schemeClr val="tx2"/>
              </a:buClr>
              <a:buSzPct val="100000"/>
              <a:buFont typeface="Arial" panose="020B0604020202020204" pitchFamily="34" charset="0"/>
              <a:buChar char="•"/>
              <a:defRPr/>
            </a:lvl3pPr>
            <a:lvl4pPr marL="1600200" indent="-228600">
              <a:buClr>
                <a:schemeClr val="tx2"/>
              </a:buClr>
              <a:buSzPct val="100000"/>
              <a:buFont typeface="Arial" panose="020B0604020202020204" pitchFamily="34" charset="0"/>
              <a:buChar char="•"/>
              <a:defRPr/>
            </a:lvl4pPr>
            <a:lvl5pPr marL="2057400" indent="-228600">
              <a:buClr>
                <a:schemeClr val="tx2"/>
              </a:buClr>
              <a:buSzPct val="10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CBB5BDD8-8221-F040-8AE0-3F33C4E24CA0}"/>
              </a:ext>
            </a:extLst>
          </p:cNvPr>
          <p:cNvCxnSpPr>
            <a:cxnSpLocks/>
          </p:cNvCxnSpPr>
          <p:nvPr userDrawn="1"/>
        </p:nvCxnSpPr>
        <p:spPr>
          <a:xfrm>
            <a:off x="838201"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6D307A5A-A1F8-4FDF-B0DA-C21FE191C212}"/>
              </a:ext>
            </a:extLst>
          </p:cNvPr>
          <p:cNvSpPr/>
          <p:nvPr userDrawn="1"/>
        </p:nvSpPr>
        <p:spPr>
          <a:xfrm>
            <a:off x="0" y="6389512"/>
            <a:ext cx="12192000" cy="4684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000" b="0" i="0">
              <a:latin typeface="Arial" panose="020B0604020202020204" pitchFamily="34" charset="0"/>
            </a:endParaRPr>
          </a:p>
        </p:txBody>
      </p:sp>
      <p:pic>
        <p:nvPicPr>
          <p:cNvPr id="15" name="Picture 14" descr="Background pattern&#10;&#10;Description automatically generated">
            <a:extLst>
              <a:ext uri="{FF2B5EF4-FFF2-40B4-BE49-F238E27FC236}">
                <a16:creationId xmlns:a16="http://schemas.microsoft.com/office/drawing/2014/main" id="{DD46C14E-6DCF-4CFF-BD17-69647AC43290}"/>
              </a:ext>
            </a:extLst>
          </p:cNvPr>
          <p:cNvPicPr>
            <a:picLocks noChangeAspect="1"/>
          </p:cNvPicPr>
          <p:nvPr userDrawn="1"/>
        </p:nvPicPr>
        <p:blipFill rotWithShape="1">
          <a:blip r:embed="rId3">
            <a:alphaModFix amt="55000"/>
          </a:blip>
          <a:srcRect l="7265" t="10945" r="7265" b="83742"/>
          <a:stretch/>
        </p:blipFill>
        <p:spPr>
          <a:xfrm>
            <a:off x="0" y="6391656"/>
            <a:ext cx="12192000" cy="466344"/>
          </a:xfrm>
          <a:prstGeom prst="rect">
            <a:avLst/>
          </a:prstGeom>
        </p:spPr>
      </p:pic>
      <p:pic>
        <p:nvPicPr>
          <p:cNvPr id="17" name="Picture 16" descr="Logo&#10;&#10;Description automatically generated">
            <a:extLst>
              <a:ext uri="{FF2B5EF4-FFF2-40B4-BE49-F238E27FC236}">
                <a16:creationId xmlns:a16="http://schemas.microsoft.com/office/drawing/2014/main" id="{8A5E3017-351E-4557-987C-C0E20E1E5C97}"/>
              </a:ext>
            </a:extLst>
          </p:cNvPr>
          <p:cNvPicPr>
            <a:picLocks noChangeAspect="1"/>
          </p:cNvPicPr>
          <p:nvPr userDrawn="1"/>
        </p:nvPicPr>
        <p:blipFill>
          <a:blip r:embed="rId4"/>
          <a:stretch>
            <a:fillRect/>
          </a:stretch>
        </p:blipFill>
        <p:spPr>
          <a:xfrm>
            <a:off x="832799" y="6123617"/>
            <a:ext cx="1547864" cy="736848"/>
          </a:xfrm>
          <a:prstGeom prst="rect">
            <a:avLst/>
          </a:prstGeom>
        </p:spPr>
      </p:pic>
    </p:spTree>
    <p:extLst>
      <p:ext uri="{BB962C8B-B14F-4D97-AF65-F5344CB8AC3E}">
        <p14:creationId xmlns:p14="http://schemas.microsoft.com/office/powerpoint/2010/main" val="3372979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ullet Slide - 2 Line Title Gold Patter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AAEF4-B950-814D-A811-CD17BDDF049C}"/>
              </a:ext>
            </a:extLst>
          </p:cNvPr>
          <p:cNvSpPr>
            <a:spLocks noGrp="1"/>
          </p:cNvSpPr>
          <p:nvPr>
            <p:ph type="title" hasCustomPrompt="1"/>
          </p:nvPr>
        </p:nvSpPr>
        <p:spPr>
          <a:xfrm>
            <a:off x="764058" y="365126"/>
            <a:ext cx="10515600" cy="1331865"/>
          </a:xfrm>
        </p:spPr>
        <p:txBody>
          <a:bodyPr/>
          <a:lstStyle/>
          <a:p>
            <a:r>
              <a:rPr lang="en-US"/>
              <a:t>Click to edit Master title style </a:t>
            </a:r>
            <a:br>
              <a:rPr lang="en-US"/>
            </a:br>
            <a:r>
              <a:rPr lang="en-US"/>
              <a:t>that runs to two lines</a:t>
            </a:r>
          </a:p>
        </p:txBody>
      </p:sp>
      <p:sp>
        <p:nvSpPr>
          <p:cNvPr id="3" name="Content Placeholder 2">
            <a:extLst>
              <a:ext uri="{FF2B5EF4-FFF2-40B4-BE49-F238E27FC236}">
                <a16:creationId xmlns:a16="http://schemas.microsoft.com/office/drawing/2014/main" id="{FACD2525-98F9-924C-B8E5-083B38E28238}"/>
              </a:ext>
            </a:extLst>
          </p:cNvPr>
          <p:cNvSpPr>
            <a:spLocks noGrp="1"/>
          </p:cNvSpPr>
          <p:nvPr>
            <p:ph idx="1"/>
          </p:nvPr>
        </p:nvSpPr>
        <p:spPr>
          <a:xfrm>
            <a:off x="838200" y="1987101"/>
            <a:ext cx="10515600" cy="4018000"/>
          </a:xfrm>
        </p:spPr>
        <p:txBody>
          <a:bodyPr/>
          <a:lstStyle>
            <a:lvl1pPr marL="228600" indent="-228600">
              <a:buSzPct val="95000"/>
              <a:buFontTx/>
              <a:buBlip>
                <a:blip r:embed="rId2"/>
              </a:buBlip>
              <a:defRPr/>
            </a:lvl1pPr>
            <a:lvl2pPr marL="685800" indent="-228600">
              <a:buClr>
                <a:schemeClr val="tx2"/>
              </a:buClr>
              <a:buSzPct val="100000"/>
              <a:buFont typeface="Arial" panose="020B0604020202020204" pitchFamily="34" charset="0"/>
              <a:buChar char="•"/>
              <a:defRPr/>
            </a:lvl2pPr>
            <a:lvl3pPr marL="1143000" indent="-228600">
              <a:buClr>
                <a:schemeClr val="tx2"/>
              </a:buClr>
              <a:buSzPct val="100000"/>
              <a:buFont typeface="Arial" panose="020B0604020202020204" pitchFamily="34" charset="0"/>
              <a:buChar char="•"/>
              <a:defRPr/>
            </a:lvl3pPr>
            <a:lvl4pPr marL="1600200" indent="-228600">
              <a:buClr>
                <a:schemeClr val="tx2"/>
              </a:buClr>
              <a:buSzPct val="100000"/>
              <a:buFont typeface="Arial" panose="020B0604020202020204" pitchFamily="34" charset="0"/>
              <a:buChar char="•"/>
              <a:defRPr/>
            </a:lvl4pPr>
            <a:lvl5pPr marL="2057400" indent="-228600">
              <a:buClr>
                <a:schemeClr val="tx2"/>
              </a:buClr>
              <a:buSzPct val="10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CBB5BDD8-8221-F040-8AE0-3F33C4E24CA0}"/>
              </a:ext>
            </a:extLst>
          </p:cNvPr>
          <p:cNvCxnSpPr>
            <a:cxnSpLocks/>
          </p:cNvCxnSpPr>
          <p:nvPr userDrawn="1"/>
        </p:nvCxnSpPr>
        <p:spPr>
          <a:xfrm>
            <a:off x="838201" y="17340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85762E0C-35DB-4011-BE65-B919BDA99AF4}"/>
              </a:ext>
            </a:extLst>
          </p:cNvPr>
          <p:cNvSpPr/>
          <p:nvPr userDrawn="1"/>
        </p:nvSpPr>
        <p:spPr>
          <a:xfrm>
            <a:off x="0" y="6389512"/>
            <a:ext cx="12192000" cy="4684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000" b="0" i="0">
              <a:latin typeface="Arial" panose="020B0604020202020204" pitchFamily="34" charset="0"/>
            </a:endParaRPr>
          </a:p>
        </p:txBody>
      </p:sp>
      <p:pic>
        <p:nvPicPr>
          <p:cNvPr id="11" name="Picture 10" descr="Background pattern&#10;&#10;Description automatically generated">
            <a:extLst>
              <a:ext uri="{FF2B5EF4-FFF2-40B4-BE49-F238E27FC236}">
                <a16:creationId xmlns:a16="http://schemas.microsoft.com/office/drawing/2014/main" id="{E4BB9CFA-BEA6-46DB-AC12-69C9015C2383}"/>
              </a:ext>
            </a:extLst>
          </p:cNvPr>
          <p:cNvPicPr>
            <a:picLocks noChangeAspect="1"/>
          </p:cNvPicPr>
          <p:nvPr userDrawn="1"/>
        </p:nvPicPr>
        <p:blipFill rotWithShape="1">
          <a:blip r:embed="rId3">
            <a:alphaModFix amt="55000"/>
          </a:blip>
          <a:srcRect l="7265" t="10945" r="7265" b="83742"/>
          <a:stretch/>
        </p:blipFill>
        <p:spPr>
          <a:xfrm>
            <a:off x="0" y="6391656"/>
            <a:ext cx="12192000" cy="466344"/>
          </a:xfrm>
          <a:prstGeom prst="rect">
            <a:avLst/>
          </a:prstGeom>
        </p:spPr>
      </p:pic>
      <p:pic>
        <p:nvPicPr>
          <p:cNvPr id="14" name="Picture 13" descr="Logo&#10;&#10;Description automatically generated">
            <a:extLst>
              <a:ext uri="{FF2B5EF4-FFF2-40B4-BE49-F238E27FC236}">
                <a16:creationId xmlns:a16="http://schemas.microsoft.com/office/drawing/2014/main" id="{E1E0A8ED-9902-43E8-99AE-63CC477631C9}"/>
              </a:ext>
            </a:extLst>
          </p:cNvPr>
          <p:cNvPicPr>
            <a:picLocks noChangeAspect="1"/>
          </p:cNvPicPr>
          <p:nvPr userDrawn="1"/>
        </p:nvPicPr>
        <p:blipFill>
          <a:blip r:embed="rId4"/>
          <a:stretch>
            <a:fillRect/>
          </a:stretch>
        </p:blipFill>
        <p:spPr>
          <a:xfrm>
            <a:off x="832799" y="6123617"/>
            <a:ext cx="1547864" cy="736848"/>
          </a:xfrm>
          <a:prstGeom prst="rect">
            <a:avLst/>
          </a:prstGeom>
        </p:spPr>
      </p:pic>
    </p:spTree>
    <p:extLst>
      <p:ext uri="{BB962C8B-B14F-4D97-AF65-F5344CB8AC3E}">
        <p14:creationId xmlns:p14="http://schemas.microsoft.com/office/powerpoint/2010/main" val="485741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ullet Slide - Photo Gold Patter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CD2525-98F9-924C-B8E5-083B38E28238}"/>
              </a:ext>
            </a:extLst>
          </p:cNvPr>
          <p:cNvSpPr>
            <a:spLocks noGrp="1"/>
          </p:cNvSpPr>
          <p:nvPr>
            <p:ph idx="1"/>
          </p:nvPr>
        </p:nvSpPr>
        <p:spPr>
          <a:xfrm>
            <a:off x="838200" y="1962387"/>
            <a:ext cx="5562600" cy="3923407"/>
          </a:xfrm>
        </p:spPr>
        <p:txBody>
          <a:bodyPr/>
          <a:lstStyle>
            <a:lvl1pPr marL="228600" indent="-228600">
              <a:buSzPct val="95000"/>
              <a:buFontTx/>
              <a:buBlip>
                <a:blip r:embed="rId2"/>
              </a:buBlip>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E42EEDE3-0B18-E049-BE23-974E50C72979}"/>
              </a:ext>
            </a:extLst>
          </p:cNvPr>
          <p:cNvSpPr>
            <a:spLocks noGrp="1"/>
          </p:cNvSpPr>
          <p:nvPr>
            <p:ph type="pic" sz="quarter" idx="11"/>
          </p:nvPr>
        </p:nvSpPr>
        <p:spPr>
          <a:xfrm>
            <a:off x="7159502" y="0"/>
            <a:ext cx="5029200" cy="6392452"/>
          </a:xfrm>
          <a:prstGeom prst="rect">
            <a:avLst/>
          </a:prstGeom>
        </p:spPr>
        <p:txBody>
          <a:bodyPr anchor="ctr" anchorCtr="0"/>
          <a:lstStyle>
            <a:lvl1pPr marL="0" indent="0" algn="ctr">
              <a:buNone/>
              <a:defRPr b="0" i="0">
                <a:solidFill>
                  <a:schemeClr val="accent3"/>
                </a:solidFill>
                <a:latin typeface="Arial" panose="020B0604020202020204" pitchFamily="34" charset="0"/>
              </a:defRPr>
            </a:lvl1pPr>
          </a:lstStyle>
          <a:p>
            <a:r>
              <a:rPr lang="en-US"/>
              <a:t>Click icon to add picture</a:t>
            </a:r>
          </a:p>
        </p:txBody>
      </p:sp>
      <p:sp>
        <p:nvSpPr>
          <p:cNvPr id="10" name="Title 1">
            <a:extLst>
              <a:ext uri="{FF2B5EF4-FFF2-40B4-BE49-F238E27FC236}">
                <a16:creationId xmlns:a16="http://schemas.microsoft.com/office/drawing/2014/main" id="{DACFD86F-631F-DB40-8919-BA8E20BF834E}"/>
              </a:ext>
            </a:extLst>
          </p:cNvPr>
          <p:cNvSpPr>
            <a:spLocks noGrp="1"/>
          </p:cNvSpPr>
          <p:nvPr>
            <p:ph type="title"/>
          </p:nvPr>
        </p:nvSpPr>
        <p:spPr>
          <a:xfrm>
            <a:off x="764058" y="365126"/>
            <a:ext cx="5636742" cy="1331865"/>
          </a:xfrm>
        </p:spPr>
        <p:txBody>
          <a:bodyPr/>
          <a:lstStyle/>
          <a:p>
            <a:r>
              <a:rPr lang="en-US"/>
              <a:t>Click to edit Master title style</a:t>
            </a:r>
          </a:p>
        </p:txBody>
      </p:sp>
      <p:cxnSp>
        <p:nvCxnSpPr>
          <p:cNvPr id="11" name="Straight Connector 10">
            <a:extLst>
              <a:ext uri="{FF2B5EF4-FFF2-40B4-BE49-F238E27FC236}">
                <a16:creationId xmlns:a16="http://schemas.microsoft.com/office/drawing/2014/main" id="{B7458B34-F735-D249-820C-C797A1F1FED6}"/>
              </a:ext>
            </a:extLst>
          </p:cNvPr>
          <p:cNvCxnSpPr>
            <a:cxnSpLocks/>
          </p:cNvCxnSpPr>
          <p:nvPr userDrawn="1"/>
        </p:nvCxnSpPr>
        <p:spPr>
          <a:xfrm>
            <a:off x="838201" y="17340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A9E462FE-611F-4B18-BC13-F2ED8BDD5FBB}"/>
              </a:ext>
            </a:extLst>
          </p:cNvPr>
          <p:cNvSpPr/>
          <p:nvPr userDrawn="1"/>
        </p:nvSpPr>
        <p:spPr>
          <a:xfrm>
            <a:off x="0" y="6389512"/>
            <a:ext cx="12192000" cy="4684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000" b="0" i="0">
              <a:latin typeface="Arial" panose="020B0604020202020204" pitchFamily="34" charset="0"/>
            </a:endParaRPr>
          </a:p>
        </p:txBody>
      </p:sp>
      <p:pic>
        <p:nvPicPr>
          <p:cNvPr id="14" name="Picture 13" descr="Background pattern&#10;&#10;Description automatically generated">
            <a:extLst>
              <a:ext uri="{FF2B5EF4-FFF2-40B4-BE49-F238E27FC236}">
                <a16:creationId xmlns:a16="http://schemas.microsoft.com/office/drawing/2014/main" id="{AFE1CBE5-EF5E-433C-9F62-2C82E6BF1CF6}"/>
              </a:ext>
            </a:extLst>
          </p:cNvPr>
          <p:cNvPicPr>
            <a:picLocks noChangeAspect="1"/>
          </p:cNvPicPr>
          <p:nvPr userDrawn="1"/>
        </p:nvPicPr>
        <p:blipFill rotWithShape="1">
          <a:blip r:embed="rId3">
            <a:alphaModFix amt="55000"/>
          </a:blip>
          <a:srcRect l="7265" t="10945" r="7265" b="83742"/>
          <a:stretch/>
        </p:blipFill>
        <p:spPr>
          <a:xfrm>
            <a:off x="0" y="6391656"/>
            <a:ext cx="12192000" cy="466344"/>
          </a:xfrm>
          <a:prstGeom prst="rect">
            <a:avLst/>
          </a:prstGeom>
        </p:spPr>
      </p:pic>
      <p:pic>
        <p:nvPicPr>
          <p:cNvPr id="16" name="Picture 15" descr="Logo&#10;&#10;Description automatically generated">
            <a:extLst>
              <a:ext uri="{FF2B5EF4-FFF2-40B4-BE49-F238E27FC236}">
                <a16:creationId xmlns:a16="http://schemas.microsoft.com/office/drawing/2014/main" id="{E88956C0-5EF2-47C5-9191-AF2C6EE673A2}"/>
              </a:ext>
            </a:extLst>
          </p:cNvPr>
          <p:cNvPicPr>
            <a:picLocks noChangeAspect="1"/>
          </p:cNvPicPr>
          <p:nvPr userDrawn="1"/>
        </p:nvPicPr>
        <p:blipFill>
          <a:blip r:embed="rId4"/>
          <a:stretch>
            <a:fillRect/>
          </a:stretch>
        </p:blipFill>
        <p:spPr>
          <a:xfrm>
            <a:off x="832799" y="6123617"/>
            <a:ext cx="1547864" cy="736848"/>
          </a:xfrm>
          <a:prstGeom prst="rect">
            <a:avLst/>
          </a:prstGeom>
        </p:spPr>
      </p:pic>
    </p:spTree>
    <p:extLst>
      <p:ext uri="{BB962C8B-B14F-4D97-AF65-F5344CB8AC3E}">
        <p14:creationId xmlns:p14="http://schemas.microsoft.com/office/powerpoint/2010/main" val="581062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ullet Slide - Photo Collage Gold Pattern">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3E5CE386-BEFE-FE49-A675-D93BEDF680BC}"/>
              </a:ext>
            </a:extLst>
          </p:cNvPr>
          <p:cNvSpPr>
            <a:spLocks noGrp="1"/>
          </p:cNvSpPr>
          <p:nvPr>
            <p:ph type="pic" sz="quarter" idx="11" hasCustomPrompt="1"/>
          </p:nvPr>
        </p:nvSpPr>
        <p:spPr>
          <a:xfrm>
            <a:off x="7170389" y="3243106"/>
            <a:ext cx="5021612" cy="3149712"/>
          </a:xfrm>
          <a:prstGeom prst="rect">
            <a:avLst/>
          </a:prstGeom>
        </p:spPr>
        <p:txBody>
          <a:bodyPr anchor="ctr" anchorCtr="0"/>
          <a:lstStyle>
            <a:lvl1pPr marL="0" indent="0" algn="ctr">
              <a:buNone/>
              <a:defRPr b="0" i="0">
                <a:solidFill>
                  <a:schemeClr val="accent3"/>
                </a:solidFill>
                <a:latin typeface="Arial" panose="020B0604020202020204" pitchFamily="34" charset="0"/>
                <a:cs typeface="Arial" panose="020B0604020202020204" pitchFamily="34" charset="0"/>
              </a:defRPr>
            </a:lvl1pPr>
          </a:lstStyle>
          <a:p>
            <a:r>
              <a:rPr lang="en-US"/>
              <a:t> Click icon to add picture </a:t>
            </a:r>
          </a:p>
        </p:txBody>
      </p:sp>
      <p:sp>
        <p:nvSpPr>
          <p:cNvPr id="8" name="Picture Placeholder 4">
            <a:extLst>
              <a:ext uri="{FF2B5EF4-FFF2-40B4-BE49-F238E27FC236}">
                <a16:creationId xmlns:a16="http://schemas.microsoft.com/office/drawing/2014/main" id="{04FCC643-718F-7645-8F8D-0BFC94D0506B}"/>
              </a:ext>
            </a:extLst>
          </p:cNvPr>
          <p:cNvSpPr>
            <a:spLocks noGrp="1"/>
          </p:cNvSpPr>
          <p:nvPr>
            <p:ph type="pic" sz="quarter" idx="14"/>
          </p:nvPr>
        </p:nvSpPr>
        <p:spPr>
          <a:xfrm>
            <a:off x="7159502" y="1"/>
            <a:ext cx="2483404" cy="3191425"/>
          </a:xfrm>
          <a:prstGeom prst="rect">
            <a:avLst/>
          </a:prstGeom>
        </p:spPr>
        <p:txBody>
          <a:bodyPr anchor="ctr" anchorCtr="0"/>
          <a:lstStyle>
            <a:lvl1pPr marL="0" indent="0" algn="ctr">
              <a:buNone/>
              <a:defRPr b="0" i="0">
                <a:solidFill>
                  <a:schemeClr val="accent3"/>
                </a:solidFill>
                <a:latin typeface="Arial" panose="020B0604020202020204" pitchFamily="34" charset="0"/>
                <a:cs typeface="Arial" panose="020B0604020202020204" pitchFamily="34" charset="0"/>
              </a:defRPr>
            </a:lvl1pPr>
          </a:lstStyle>
          <a:p>
            <a:r>
              <a:rPr lang="en-US"/>
              <a:t>Click icon to add picture</a:t>
            </a:r>
          </a:p>
        </p:txBody>
      </p:sp>
      <p:sp>
        <p:nvSpPr>
          <p:cNvPr id="9" name="Picture Placeholder 4">
            <a:extLst>
              <a:ext uri="{FF2B5EF4-FFF2-40B4-BE49-F238E27FC236}">
                <a16:creationId xmlns:a16="http://schemas.microsoft.com/office/drawing/2014/main" id="{41C31617-CC11-4C42-B6D0-164DF6AFBF41}"/>
              </a:ext>
            </a:extLst>
          </p:cNvPr>
          <p:cNvSpPr>
            <a:spLocks noGrp="1"/>
          </p:cNvSpPr>
          <p:nvPr>
            <p:ph type="pic" sz="quarter" idx="15"/>
          </p:nvPr>
        </p:nvSpPr>
        <p:spPr>
          <a:xfrm>
            <a:off x="9695874" y="1"/>
            <a:ext cx="2483404" cy="3191425"/>
          </a:xfrm>
          <a:prstGeom prst="rect">
            <a:avLst/>
          </a:prstGeom>
        </p:spPr>
        <p:txBody>
          <a:bodyPr anchor="ctr" anchorCtr="0"/>
          <a:lstStyle>
            <a:lvl1pPr marL="0" indent="0" algn="ctr">
              <a:buNone/>
              <a:defRPr b="0" i="0">
                <a:solidFill>
                  <a:schemeClr val="accent3"/>
                </a:solidFill>
                <a:latin typeface="Arial" panose="020B0604020202020204" pitchFamily="34" charset="0"/>
                <a:cs typeface="Arial" panose="020B0604020202020204" pitchFamily="34" charset="0"/>
              </a:defRPr>
            </a:lvl1pPr>
          </a:lstStyle>
          <a:p>
            <a:r>
              <a:rPr lang="en-US"/>
              <a:t>Click icon to add picture</a:t>
            </a:r>
          </a:p>
        </p:txBody>
      </p:sp>
      <p:sp>
        <p:nvSpPr>
          <p:cNvPr id="16" name="Title 1">
            <a:extLst>
              <a:ext uri="{FF2B5EF4-FFF2-40B4-BE49-F238E27FC236}">
                <a16:creationId xmlns:a16="http://schemas.microsoft.com/office/drawing/2014/main" id="{7524483D-CFE3-E34D-BB74-CEDD541765E2}"/>
              </a:ext>
            </a:extLst>
          </p:cNvPr>
          <p:cNvSpPr>
            <a:spLocks noGrp="1"/>
          </p:cNvSpPr>
          <p:nvPr>
            <p:ph type="title"/>
          </p:nvPr>
        </p:nvSpPr>
        <p:spPr>
          <a:xfrm>
            <a:off x="751701" y="365126"/>
            <a:ext cx="5636742" cy="1331865"/>
          </a:xfrm>
        </p:spPr>
        <p:txBody>
          <a:bodyPr/>
          <a:lstStyle/>
          <a:p>
            <a:r>
              <a:rPr lang="en-US"/>
              <a:t>Click to edit Master title style</a:t>
            </a:r>
          </a:p>
        </p:txBody>
      </p:sp>
      <p:cxnSp>
        <p:nvCxnSpPr>
          <p:cNvPr id="17" name="Straight Connector 16">
            <a:extLst>
              <a:ext uri="{FF2B5EF4-FFF2-40B4-BE49-F238E27FC236}">
                <a16:creationId xmlns:a16="http://schemas.microsoft.com/office/drawing/2014/main" id="{EB28F420-DDD1-5E4A-9513-EAE252D759FE}"/>
              </a:ext>
            </a:extLst>
          </p:cNvPr>
          <p:cNvCxnSpPr>
            <a:cxnSpLocks/>
          </p:cNvCxnSpPr>
          <p:nvPr userDrawn="1"/>
        </p:nvCxnSpPr>
        <p:spPr>
          <a:xfrm>
            <a:off x="838201" y="17340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65D1D7B4-E242-C142-8F5F-F3301CC02498}"/>
              </a:ext>
            </a:extLst>
          </p:cNvPr>
          <p:cNvSpPr>
            <a:spLocks noGrp="1"/>
          </p:cNvSpPr>
          <p:nvPr>
            <p:ph idx="1"/>
          </p:nvPr>
        </p:nvSpPr>
        <p:spPr>
          <a:xfrm>
            <a:off x="838200" y="1962387"/>
            <a:ext cx="5562600" cy="3923407"/>
          </a:xfrm>
        </p:spPr>
        <p:txBody>
          <a:bodyPr/>
          <a:lstStyle>
            <a:lvl1pPr marL="228600" indent="-228600">
              <a:buSzPct val="95000"/>
              <a:buFontTx/>
              <a:buBlip>
                <a:blip r:embed="rId2"/>
              </a:buBlip>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4C207A31-DB1E-4DF0-B374-9F6663FE957D}"/>
              </a:ext>
            </a:extLst>
          </p:cNvPr>
          <p:cNvSpPr/>
          <p:nvPr userDrawn="1"/>
        </p:nvSpPr>
        <p:spPr>
          <a:xfrm>
            <a:off x="0" y="6389512"/>
            <a:ext cx="12192000" cy="4684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000" b="0" i="0">
              <a:latin typeface="Arial" panose="020B0604020202020204" pitchFamily="34" charset="0"/>
            </a:endParaRPr>
          </a:p>
        </p:txBody>
      </p:sp>
      <p:pic>
        <p:nvPicPr>
          <p:cNvPr id="20" name="Picture 19" descr="Background pattern&#10;&#10;Description automatically generated">
            <a:extLst>
              <a:ext uri="{FF2B5EF4-FFF2-40B4-BE49-F238E27FC236}">
                <a16:creationId xmlns:a16="http://schemas.microsoft.com/office/drawing/2014/main" id="{939E7996-F8A9-4B82-AEC1-A6158D8E57E2}"/>
              </a:ext>
            </a:extLst>
          </p:cNvPr>
          <p:cNvPicPr>
            <a:picLocks noChangeAspect="1"/>
          </p:cNvPicPr>
          <p:nvPr userDrawn="1"/>
        </p:nvPicPr>
        <p:blipFill rotWithShape="1">
          <a:blip r:embed="rId3">
            <a:alphaModFix amt="55000"/>
          </a:blip>
          <a:srcRect l="7265" t="10945" r="7265" b="83742"/>
          <a:stretch/>
        </p:blipFill>
        <p:spPr>
          <a:xfrm>
            <a:off x="0" y="6391656"/>
            <a:ext cx="12192000" cy="466344"/>
          </a:xfrm>
          <a:prstGeom prst="rect">
            <a:avLst/>
          </a:prstGeom>
        </p:spPr>
      </p:pic>
      <p:pic>
        <p:nvPicPr>
          <p:cNvPr id="22" name="Picture 21" descr="Logo&#10;&#10;Description automatically generated">
            <a:extLst>
              <a:ext uri="{FF2B5EF4-FFF2-40B4-BE49-F238E27FC236}">
                <a16:creationId xmlns:a16="http://schemas.microsoft.com/office/drawing/2014/main" id="{BC6F6B6E-A7E7-48A6-96F9-6CEDA63FFFB2}"/>
              </a:ext>
            </a:extLst>
          </p:cNvPr>
          <p:cNvPicPr>
            <a:picLocks noChangeAspect="1"/>
          </p:cNvPicPr>
          <p:nvPr userDrawn="1"/>
        </p:nvPicPr>
        <p:blipFill>
          <a:blip r:embed="rId4"/>
          <a:stretch>
            <a:fillRect/>
          </a:stretch>
        </p:blipFill>
        <p:spPr>
          <a:xfrm>
            <a:off x="832799" y="6123617"/>
            <a:ext cx="1547864" cy="736848"/>
          </a:xfrm>
          <a:prstGeom prst="rect">
            <a:avLst/>
          </a:prstGeom>
        </p:spPr>
      </p:pic>
    </p:spTree>
    <p:extLst>
      <p:ext uri="{BB962C8B-B14F-4D97-AF65-F5344CB8AC3E}">
        <p14:creationId xmlns:p14="http://schemas.microsoft.com/office/powerpoint/2010/main" val="3213529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rt Slide - Gold Patter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AAEF4-B950-814D-A811-CD17BDDF049C}"/>
              </a:ext>
            </a:extLst>
          </p:cNvPr>
          <p:cNvSpPr>
            <a:spLocks noGrp="1"/>
          </p:cNvSpPr>
          <p:nvPr>
            <p:ph type="title"/>
          </p:nvPr>
        </p:nvSpPr>
        <p:spPr>
          <a:xfrm>
            <a:off x="739345" y="494273"/>
            <a:ext cx="10515600" cy="869089"/>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CBB5BDD8-8221-F040-8AE0-3F33C4E24CA0}"/>
              </a:ext>
            </a:extLst>
          </p:cNvPr>
          <p:cNvCxnSpPr>
            <a:cxnSpLocks/>
          </p:cNvCxnSpPr>
          <p:nvPr userDrawn="1"/>
        </p:nvCxnSpPr>
        <p:spPr>
          <a:xfrm>
            <a:off x="838201"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graphicFrame>
        <p:nvGraphicFramePr>
          <p:cNvPr id="15" name="Chart 14">
            <a:extLst>
              <a:ext uri="{FF2B5EF4-FFF2-40B4-BE49-F238E27FC236}">
                <a16:creationId xmlns:a16="http://schemas.microsoft.com/office/drawing/2014/main" id="{64BBBED6-611A-4261-86B6-62C28FFE6E40}"/>
              </a:ext>
            </a:extLst>
          </p:cNvPr>
          <p:cNvGraphicFramePr/>
          <p:nvPr userDrawn="1">
            <p:extLst>
              <p:ext uri="{D42A27DB-BD31-4B8C-83A1-F6EECF244321}">
                <p14:modId xmlns:p14="http://schemas.microsoft.com/office/powerpoint/2010/main" val="661104260"/>
              </p:ext>
            </p:extLst>
          </p:nvPr>
        </p:nvGraphicFramePr>
        <p:xfrm>
          <a:off x="1662113" y="1679422"/>
          <a:ext cx="8867775" cy="4207019"/>
        </p:xfrm>
        <a:graphic>
          <a:graphicData uri="http://schemas.openxmlformats.org/drawingml/2006/chart">
            <c:chart xmlns:c="http://schemas.openxmlformats.org/drawingml/2006/chart" xmlns:r="http://schemas.openxmlformats.org/officeDocument/2006/relationships" r:id="rId2"/>
          </a:graphicData>
        </a:graphic>
      </p:graphicFrame>
      <p:sp>
        <p:nvSpPr>
          <p:cNvPr id="16" name="Rectangle 15">
            <a:extLst>
              <a:ext uri="{FF2B5EF4-FFF2-40B4-BE49-F238E27FC236}">
                <a16:creationId xmlns:a16="http://schemas.microsoft.com/office/drawing/2014/main" id="{CF61E2F7-B8B5-4386-AA6C-5D21E90BC050}"/>
              </a:ext>
            </a:extLst>
          </p:cNvPr>
          <p:cNvSpPr/>
          <p:nvPr userDrawn="1"/>
        </p:nvSpPr>
        <p:spPr>
          <a:xfrm>
            <a:off x="0" y="6389512"/>
            <a:ext cx="12192000" cy="4684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000" b="0" i="0">
              <a:latin typeface="Arial" panose="020B0604020202020204" pitchFamily="34" charset="0"/>
            </a:endParaRPr>
          </a:p>
        </p:txBody>
      </p:sp>
      <p:pic>
        <p:nvPicPr>
          <p:cNvPr id="17" name="Picture 16" descr="Background pattern&#10;&#10;Description automatically generated">
            <a:extLst>
              <a:ext uri="{FF2B5EF4-FFF2-40B4-BE49-F238E27FC236}">
                <a16:creationId xmlns:a16="http://schemas.microsoft.com/office/drawing/2014/main" id="{ABED5453-BC93-4A4E-83BB-674147DF1C49}"/>
              </a:ext>
            </a:extLst>
          </p:cNvPr>
          <p:cNvPicPr>
            <a:picLocks noChangeAspect="1"/>
          </p:cNvPicPr>
          <p:nvPr userDrawn="1"/>
        </p:nvPicPr>
        <p:blipFill rotWithShape="1">
          <a:blip r:embed="rId3">
            <a:alphaModFix amt="55000"/>
          </a:blip>
          <a:srcRect l="7265" t="10945" r="7265" b="83742"/>
          <a:stretch/>
        </p:blipFill>
        <p:spPr>
          <a:xfrm>
            <a:off x="0" y="6391656"/>
            <a:ext cx="12192000" cy="466344"/>
          </a:xfrm>
          <a:prstGeom prst="rect">
            <a:avLst/>
          </a:prstGeom>
        </p:spPr>
      </p:pic>
      <p:pic>
        <p:nvPicPr>
          <p:cNvPr id="19" name="Picture 18" descr="Logo&#10;&#10;Description automatically generated">
            <a:extLst>
              <a:ext uri="{FF2B5EF4-FFF2-40B4-BE49-F238E27FC236}">
                <a16:creationId xmlns:a16="http://schemas.microsoft.com/office/drawing/2014/main" id="{550A1A96-2154-4FDF-9C3F-7F3035AB4356}"/>
              </a:ext>
            </a:extLst>
          </p:cNvPr>
          <p:cNvPicPr>
            <a:picLocks noChangeAspect="1"/>
          </p:cNvPicPr>
          <p:nvPr userDrawn="1"/>
        </p:nvPicPr>
        <p:blipFill>
          <a:blip r:embed="rId4"/>
          <a:stretch>
            <a:fillRect/>
          </a:stretch>
        </p:blipFill>
        <p:spPr>
          <a:xfrm>
            <a:off x="832799" y="6123617"/>
            <a:ext cx="1547864" cy="736848"/>
          </a:xfrm>
          <a:prstGeom prst="rect">
            <a:avLst/>
          </a:prstGeom>
        </p:spPr>
      </p:pic>
    </p:spTree>
    <p:extLst>
      <p:ext uri="{BB962C8B-B14F-4D97-AF65-F5344CB8AC3E}">
        <p14:creationId xmlns:p14="http://schemas.microsoft.com/office/powerpoint/2010/main" val="4040883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con Slide - Gold Patter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AAEF4-B950-814D-A811-CD17BDDF049C}"/>
              </a:ext>
            </a:extLst>
          </p:cNvPr>
          <p:cNvSpPr>
            <a:spLocks noGrp="1"/>
          </p:cNvSpPr>
          <p:nvPr>
            <p:ph type="title"/>
          </p:nvPr>
        </p:nvSpPr>
        <p:spPr>
          <a:xfrm>
            <a:off x="739345" y="494273"/>
            <a:ext cx="10515600" cy="869089"/>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CBB5BDD8-8221-F040-8AE0-3F33C4E24CA0}"/>
              </a:ext>
            </a:extLst>
          </p:cNvPr>
          <p:cNvCxnSpPr>
            <a:cxnSpLocks/>
          </p:cNvCxnSpPr>
          <p:nvPr userDrawn="1"/>
        </p:nvCxnSpPr>
        <p:spPr>
          <a:xfrm>
            <a:off x="838201"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p:pic>
        <p:nvPicPr>
          <p:cNvPr id="10" name="Picture 9" descr="Icon&#10;&#10;Description automatically generated">
            <a:extLst>
              <a:ext uri="{FF2B5EF4-FFF2-40B4-BE49-F238E27FC236}">
                <a16:creationId xmlns:a16="http://schemas.microsoft.com/office/drawing/2014/main" id="{28C11E47-2462-46C7-A281-4BD689BD1E21}"/>
              </a:ext>
            </a:extLst>
          </p:cNvPr>
          <p:cNvPicPr>
            <a:picLocks noChangeAspect="1"/>
          </p:cNvPicPr>
          <p:nvPr userDrawn="1"/>
        </p:nvPicPr>
        <p:blipFill>
          <a:blip r:embed="rId2"/>
          <a:stretch>
            <a:fillRect/>
          </a:stretch>
        </p:blipFill>
        <p:spPr>
          <a:xfrm>
            <a:off x="1435685" y="1870457"/>
            <a:ext cx="1889956" cy="1889956"/>
          </a:xfrm>
          <a:prstGeom prst="rect">
            <a:avLst/>
          </a:prstGeom>
        </p:spPr>
      </p:pic>
      <p:pic>
        <p:nvPicPr>
          <p:cNvPr id="13" name="Picture 12" descr="Logo, icon&#10;&#10;Description automatically generated">
            <a:extLst>
              <a:ext uri="{FF2B5EF4-FFF2-40B4-BE49-F238E27FC236}">
                <a16:creationId xmlns:a16="http://schemas.microsoft.com/office/drawing/2014/main" id="{E52C01EF-9492-4818-AC9E-BB729811B732}"/>
              </a:ext>
            </a:extLst>
          </p:cNvPr>
          <p:cNvPicPr>
            <a:picLocks noChangeAspect="1"/>
          </p:cNvPicPr>
          <p:nvPr userDrawn="1"/>
        </p:nvPicPr>
        <p:blipFill>
          <a:blip r:embed="rId3"/>
          <a:stretch>
            <a:fillRect/>
          </a:stretch>
        </p:blipFill>
        <p:spPr>
          <a:xfrm>
            <a:off x="5191124" y="1857103"/>
            <a:ext cx="1809750" cy="1812164"/>
          </a:xfrm>
          <a:prstGeom prst="rect">
            <a:avLst/>
          </a:prstGeom>
        </p:spPr>
      </p:pic>
      <p:pic>
        <p:nvPicPr>
          <p:cNvPr id="15" name="Picture 14" descr="Icon&#10;&#10;Description automatically generated">
            <a:extLst>
              <a:ext uri="{FF2B5EF4-FFF2-40B4-BE49-F238E27FC236}">
                <a16:creationId xmlns:a16="http://schemas.microsoft.com/office/drawing/2014/main" id="{AEB1CB2F-1E40-4F67-BA69-576826863006}"/>
              </a:ext>
            </a:extLst>
          </p:cNvPr>
          <p:cNvPicPr>
            <a:picLocks noChangeAspect="1"/>
          </p:cNvPicPr>
          <p:nvPr userDrawn="1"/>
        </p:nvPicPr>
        <p:blipFill>
          <a:blip r:embed="rId4"/>
          <a:stretch>
            <a:fillRect/>
          </a:stretch>
        </p:blipFill>
        <p:spPr>
          <a:xfrm>
            <a:off x="8901994" y="1999107"/>
            <a:ext cx="1632656" cy="1632656"/>
          </a:xfrm>
          <a:prstGeom prst="rect">
            <a:avLst/>
          </a:prstGeom>
        </p:spPr>
      </p:pic>
      <p:sp>
        <p:nvSpPr>
          <p:cNvPr id="16" name="Content Placeholder 2">
            <a:extLst>
              <a:ext uri="{FF2B5EF4-FFF2-40B4-BE49-F238E27FC236}">
                <a16:creationId xmlns:a16="http://schemas.microsoft.com/office/drawing/2014/main" id="{C128079F-56E6-4EC9-9503-8E9053EA26B1}"/>
              </a:ext>
            </a:extLst>
          </p:cNvPr>
          <p:cNvSpPr>
            <a:spLocks noGrp="1"/>
          </p:cNvSpPr>
          <p:nvPr>
            <p:ph idx="1"/>
          </p:nvPr>
        </p:nvSpPr>
        <p:spPr>
          <a:xfrm>
            <a:off x="912257" y="4080530"/>
            <a:ext cx="3114357" cy="1258481"/>
          </a:xfrm>
        </p:spPr>
        <p:txBody>
          <a:bodyPr/>
          <a:lstStyle>
            <a:lvl1pPr marL="0" indent="0" algn="ctr">
              <a:buSzPct val="95000"/>
              <a:buFontTx/>
              <a:buNone/>
              <a:defRPr/>
            </a:lvl1pPr>
            <a:lvl2pPr marL="514350" indent="-171450">
              <a:buClr>
                <a:schemeClr val="tx2"/>
              </a:buClr>
              <a:buSzPct val="100000"/>
              <a:buFont typeface="Arial" panose="020B0604020202020204" pitchFamily="34" charset="0"/>
              <a:buChar char="•"/>
              <a:defRPr/>
            </a:lvl2pPr>
            <a:lvl3pPr marL="857250" indent="-171450">
              <a:buClr>
                <a:schemeClr val="tx2"/>
              </a:buClr>
              <a:buSzPct val="100000"/>
              <a:buFont typeface="Arial" panose="020B0604020202020204" pitchFamily="34" charset="0"/>
              <a:buChar char="•"/>
              <a:defRPr/>
            </a:lvl3pPr>
            <a:lvl4pPr marL="1200150" indent="-171450">
              <a:buClr>
                <a:schemeClr val="tx2"/>
              </a:buClr>
              <a:buSzPct val="100000"/>
              <a:buFont typeface="Arial" panose="020B0604020202020204" pitchFamily="34" charset="0"/>
              <a:buChar char="•"/>
              <a:defRPr/>
            </a:lvl4pPr>
            <a:lvl5pPr marL="1543050" indent="-171450">
              <a:buClr>
                <a:schemeClr val="tx2"/>
              </a:buClr>
              <a:buSzPct val="100000"/>
              <a:buFont typeface="Arial" panose="020B0604020202020204" pitchFamily="34" charset="0"/>
              <a:buChar char="•"/>
              <a:defRPr/>
            </a:lvl5pPr>
          </a:lstStyle>
          <a:p>
            <a:pPr lvl="0"/>
            <a:r>
              <a:rPr lang="en-US"/>
              <a:t>Click to edit Master text styles</a:t>
            </a:r>
          </a:p>
        </p:txBody>
      </p:sp>
      <p:sp>
        <p:nvSpPr>
          <p:cNvPr id="17" name="Content Placeholder 2">
            <a:extLst>
              <a:ext uri="{FF2B5EF4-FFF2-40B4-BE49-F238E27FC236}">
                <a16:creationId xmlns:a16="http://schemas.microsoft.com/office/drawing/2014/main" id="{2F44773E-C1C5-4CBC-9E0A-23D714739F13}"/>
              </a:ext>
            </a:extLst>
          </p:cNvPr>
          <p:cNvSpPr>
            <a:spLocks noGrp="1"/>
          </p:cNvSpPr>
          <p:nvPr>
            <p:ph idx="10"/>
          </p:nvPr>
        </p:nvSpPr>
        <p:spPr>
          <a:xfrm>
            <a:off x="4538822" y="4075516"/>
            <a:ext cx="3114357" cy="1258481"/>
          </a:xfrm>
        </p:spPr>
        <p:txBody>
          <a:bodyPr/>
          <a:lstStyle>
            <a:lvl1pPr marL="0" indent="0" algn="ctr">
              <a:buSzPct val="95000"/>
              <a:buFontTx/>
              <a:buNone/>
              <a:defRPr/>
            </a:lvl1pPr>
            <a:lvl2pPr marL="514350" indent="-171450">
              <a:buClr>
                <a:schemeClr val="tx2"/>
              </a:buClr>
              <a:buSzPct val="100000"/>
              <a:buFont typeface="Arial" panose="020B0604020202020204" pitchFamily="34" charset="0"/>
              <a:buChar char="•"/>
              <a:defRPr/>
            </a:lvl2pPr>
            <a:lvl3pPr marL="857250" indent="-171450">
              <a:buClr>
                <a:schemeClr val="tx2"/>
              </a:buClr>
              <a:buSzPct val="100000"/>
              <a:buFont typeface="Arial" panose="020B0604020202020204" pitchFamily="34" charset="0"/>
              <a:buChar char="•"/>
              <a:defRPr/>
            </a:lvl3pPr>
            <a:lvl4pPr marL="1200150" indent="-171450">
              <a:buClr>
                <a:schemeClr val="tx2"/>
              </a:buClr>
              <a:buSzPct val="100000"/>
              <a:buFont typeface="Arial" panose="020B0604020202020204" pitchFamily="34" charset="0"/>
              <a:buChar char="•"/>
              <a:defRPr/>
            </a:lvl4pPr>
            <a:lvl5pPr marL="1543050" indent="-171450">
              <a:buClr>
                <a:schemeClr val="tx2"/>
              </a:buClr>
              <a:buSzPct val="100000"/>
              <a:buFont typeface="Arial" panose="020B0604020202020204" pitchFamily="34" charset="0"/>
              <a:buChar char="•"/>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747545E5-17D4-4D89-BB3F-FEC57DA3CA6D}"/>
              </a:ext>
            </a:extLst>
          </p:cNvPr>
          <p:cNvSpPr>
            <a:spLocks noGrp="1"/>
          </p:cNvSpPr>
          <p:nvPr>
            <p:ph idx="11"/>
          </p:nvPr>
        </p:nvSpPr>
        <p:spPr>
          <a:xfrm>
            <a:off x="8165388" y="4085544"/>
            <a:ext cx="3114357" cy="1253466"/>
          </a:xfrm>
        </p:spPr>
        <p:txBody>
          <a:bodyPr/>
          <a:lstStyle>
            <a:lvl1pPr marL="0" indent="0" algn="ctr">
              <a:buSzPct val="95000"/>
              <a:buFontTx/>
              <a:buNone/>
              <a:defRPr/>
            </a:lvl1pPr>
            <a:lvl2pPr marL="514350" indent="-171450">
              <a:buClr>
                <a:schemeClr val="tx2"/>
              </a:buClr>
              <a:buSzPct val="100000"/>
              <a:buFont typeface="Arial" panose="020B0604020202020204" pitchFamily="34" charset="0"/>
              <a:buChar char="•"/>
              <a:defRPr/>
            </a:lvl2pPr>
            <a:lvl3pPr marL="857250" indent="-171450">
              <a:buClr>
                <a:schemeClr val="tx2"/>
              </a:buClr>
              <a:buSzPct val="100000"/>
              <a:buFont typeface="Arial" panose="020B0604020202020204" pitchFamily="34" charset="0"/>
              <a:buChar char="•"/>
              <a:defRPr/>
            </a:lvl3pPr>
            <a:lvl4pPr marL="1200150" indent="-171450">
              <a:buClr>
                <a:schemeClr val="tx2"/>
              </a:buClr>
              <a:buSzPct val="100000"/>
              <a:buFont typeface="Arial" panose="020B0604020202020204" pitchFamily="34" charset="0"/>
              <a:buChar char="•"/>
              <a:defRPr/>
            </a:lvl4pPr>
            <a:lvl5pPr marL="1543050" indent="-171450">
              <a:buClr>
                <a:schemeClr val="tx2"/>
              </a:buClr>
              <a:buSzPct val="100000"/>
              <a:buFont typeface="Arial" panose="020B0604020202020204" pitchFamily="34" charset="0"/>
              <a:buChar char="•"/>
              <a:defRPr/>
            </a:lvl5pPr>
          </a:lstStyle>
          <a:p>
            <a:pPr lvl="0"/>
            <a:r>
              <a:rPr lang="en-US"/>
              <a:t>Click to edit Master text styles</a:t>
            </a:r>
          </a:p>
        </p:txBody>
      </p:sp>
      <p:sp>
        <p:nvSpPr>
          <p:cNvPr id="23" name="Rectangle 22">
            <a:extLst>
              <a:ext uri="{FF2B5EF4-FFF2-40B4-BE49-F238E27FC236}">
                <a16:creationId xmlns:a16="http://schemas.microsoft.com/office/drawing/2014/main" id="{3C795DBD-2E89-40A3-A0B1-B01702F8EF23}"/>
              </a:ext>
            </a:extLst>
          </p:cNvPr>
          <p:cNvSpPr/>
          <p:nvPr userDrawn="1"/>
        </p:nvSpPr>
        <p:spPr>
          <a:xfrm>
            <a:off x="0" y="6389512"/>
            <a:ext cx="12192000" cy="4684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000" b="0" i="0">
              <a:latin typeface="Arial" panose="020B0604020202020204" pitchFamily="34" charset="0"/>
            </a:endParaRPr>
          </a:p>
        </p:txBody>
      </p:sp>
      <p:pic>
        <p:nvPicPr>
          <p:cNvPr id="24" name="Picture 23" descr="Background pattern&#10;&#10;Description automatically generated">
            <a:extLst>
              <a:ext uri="{FF2B5EF4-FFF2-40B4-BE49-F238E27FC236}">
                <a16:creationId xmlns:a16="http://schemas.microsoft.com/office/drawing/2014/main" id="{E825B3D7-AFD1-450C-81FD-DE09C2638FD1}"/>
              </a:ext>
            </a:extLst>
          </p:cNvPr>
          <p:cNvPicPr>
            <a:picLocks noChangeAspect="1"/>
          </p:cNvPicPr>
          <p:nvPr userDrawn="1"/>
        </p:nvPicPr>
        <p:blipFill rotWithShape="1">
          <a:blip r:embed="rId5">
            <a:alphaModFix amt="55000"/>
          </a:blip>
          <a:srcRect l="7265" t="10945" r="7265" b="83742"/>
          <a:stretch/>
        </p:blipFill>
        <p:spPr>
          <a:xfrm>
            <a:off x="0" y="6391656"/>
            <a:ext cx="12192000" cy="466344"/>
          </a:xfrm>
          <a:prstGeom prst="rect">
            <a:avLst/>
          </a:prstGeom>
        </p:spPr>
      </p:pic>
      <p:pic>
        <p:nvPicPr>
          <p:cNvPr id="26" name="Picture 25" descr="Logo&#10;&#10;Description automatically generated">
            <a:extLst>
              <a:ext uri="{FF2B5EF4-FFF2-40B4-BE49-F238E27FC236}">
                <a16:creationId xmlns:a16="http://schemas.microsoft.com/office/drawing/2014/main" id="{E34DC9BE-3E38-4043-AD38-CC00BD5CBB4E}"/>
              </a:ext>
            </a:extLst>
          </p:cNvPr>
          <p:cNvPicPr>
            <a:picLocks noChangeAspect="1"/>
          </p:cNvPicPr>
          <p:nvPr userDrawn="1"/>
        </p:nvPicPr>
        <p:blipFill>
          <a:blip r:embed="rId6"/>
          <a:stretch>
            <a:fillRect/>
          </a:stretch>
        </p:blipFill>
        <p:spPr>
          <a:xfrm>
            <a:off x="832799" y="6123617"/>
            <a:ext cx="1547864" cy="736848"/>
          </a:xfrm>
          <a:prstGeom prst="rect">
            <a:avLst/>
          </a:prstGeom>
        </p:spPr>
      </p:pic>
    </p:spTree>
    <p:extLst>
      <p:ext uri="{BB962C8B-B14F-4D97-AF65-F5344CB8AC3E}">
        <p14:creationId xmlns:p14="http://schemas.microsoft.com/office/powerpoint/2010/main" val="1594115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e Chart - Gold Patter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AAEF4-B950-814D-A811-CD17BDDF049C}"/>
              </a:ext>
            </a:extLst>
          </p:cNvPr>
          <p:cNvSpPr>
            <a:spLocks noGrp="1"/>
          </p:cNvSpPr>
          <p:nvPr>
            <p:ph type="title"/>
          </p:nvPr>
        </p:nvSpPr>
        <p:spPr>
          <a:xfrm>
            <a:off x="739345" y="494273"/>
            <a:ext cx="10515600" cy="869089"/>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CBB5BDD8-8221-F040-8AE0-3F33C4E24CA0}"/>
              </a:ext>
            </a:extLst>
          </p:cNvPr>
          <p:cNvCxnSpPr>
            <a:cxnSpLocks/>
          </p:cNvCxnSpPr>
          <p:nvPr userDrawn="1"/>
        </p:nvCxnSpPr>
        <p:spPr>
          <a:xfrm>
            <a:off x="838201" y="1363362"/>
            <a:ext cx="768531" cy="0"/>
          </a:xfrm>
          <a:prstGeom prst="line">
            <a:avLst/>
          </a:prstGeom>
          <a:ln w="635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cx1="http://schemas.microsoft.com/office/drawing/2015/9/8/chartex">
        <mc:Choice Requires="cx1">
          <p:graphicFrame>
            <p:nvGraphicFramePr>
              <p:cNvPr id="10" name="Chart 9">
                <a:extLst>
                  <a:ext uri="{FF2B5EF4-FFF2-40B4-BE49-F238E27FC236}">
                    <a16:creationId xmlns:a16="http://schemas.microsoft.com/office/drawing/2014/main" id="{2DFF635D-5AC8-4EC6-88B3-5D8FAADDD233}"/>
                  </a:ext>
                </a:extLst>
              </p:cNvPr>
              <p:cNvGraphicFramePr/>
              <p:nvPr userDrawn="1">
                <p:extLst>
                  <p:ext uri="{D42A27DB-BD31-4B8C-83A1-F6EECF244321}">
                    <p14:modId xmlns:p14="http://schemas.microsoft.com/office/powerpoint/2010/main" val="1030534590"/>
                  </p:ext>
                </p:extLst>
              </p:nvPr>
            </p:nvGraphicFramePr>
            <p:xfrm>
              <a:off x="1011709" y="1629257"/>
              <a:ext cx="5484341" cy="4371539"/>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10" name="Chart 9">
                <a:extLst>
                  <a:ext uri="{FF2B5EF4-FFF2-40B4-BE49-F238E27FC236}">
                    <a16:creationId xmlns:a16="http://schemas.microsoft.com/office/drawing/2014/main" id="{2DFF635D-5AC8-4EC6-88B3-5D8FAADDD233}"/>
                  </a:ext>
                </a:extLst>
              </p:cNvPr>
              <p:cNvPicPr>
                <a:picLocks noGrp="1" noRot="1" noChangeAspect="1" noMove="1" noResize="1" noEditPoints="1" noAdjustHandles="1" noChangeArrowheads="1" noChangeShapeType="1"/>
              </p:cNvPicPr>
              <p:nvPr/>
            </p:nvPicPr>
            <p:blipFill>
              <a:blip r:embed="rId3"/>
              <a:stretch>
                <a:fillRect/>
              </a:stretch>
            </p:blipFill>
            <p:spPr>
              <a:xfrm>
                <a:off x="1011709" y="1629257"/>
                <a:ext cx="5484341" cy="4371539"/>
              </a:xfrm>
              <a:prstGeom prst="rect">
                <a:avLst/>
              </a:prstGeom>
            </p:spPr>
          </p:pic>
        </mc:Fallback>
      </mc:AlternateContent>
      <p:sp>
        <p:nvSpPr>
          <p:cNvPr id="13" name="Content Placeholder 2">
            <a:extLst>
              <a:ext uri="{FF2B5EF4-FFF2-40B4-BE49-F238E27FC236}">
                <a16:creationId xmlns:a16="http://schemas.microsoft.com/office/drawing/2014/main" id="{A15E76A2-32E1-4A7D-8169-8AC88E9A9C65}"/>
              </a:ext>
            </a:extLst>
          </p:cNvPr>
          <p:cNvSpPr>
            <a:spLocks noGrp="1"/>
          </p:cNvSpPr>
          <p:nvPr>
            <p:ph idx="1"/>
          </p:nvPr>
        </p:nvSpPr>
        <p:spPr>
          <a:xfrm>
            <a:off x="6848475" y="1629257"/>
            <a:ext cx="4355552" cy="4371539"/>
          </a:xfrm>
        </p:spPr>
        <p:txBody>
          <a:bodyPr/>
          <a:lstStyle>
            <a:lvl1pPr marL="171450" indent="-171450">
              <a:buSzPct val="95000"/>
              <a:buFontTx/>
              <a:buBlip>
                <a:blip r:embed="rId4"/>
              </a:buBlip>
              <a:defRPr/>
            </a:lvl1pPr>
            <a:lvl2pPr marL="514350" indent="-171450">
              <a:buClr>
                <a:schemeClr val="tx2"/>
              </a:buClr>
              <a:buSzPct val="100000"/>
              <a:buFont typeface="Arial" panose="020B0604020202020204" pitchFamily="34" charset="0"/>
              <a:buChar char="•"/>
              <a:defRPr/>
            </a:lvl2pPr>
            <a:lvl3pPr marL="857250" indent="-171450">
              <a:buClr>
                <a:schemeClr val="tx2"/>
              </a:buClr>
              <a:buSzPct val="100000"/>
              <a:buFont typeface="Arial" panose="020B0604020202020204" pitchFamily="34" charset="0"/>
              <a:buChar char="•"/>
              <a:defRPr/>
            </a:lvl3pPr>
            <a:lvl4pPr marL="1200150" indent="-171450">
              <a:buClr>
                <a:schemeClr val="tx2"/>
              </a:buClr>
              <a:buSzPct val="100000"/>
              <a:buFont typeface="Arial" panose="020B0604020202020204" pitchFamily="34" charset="0"/>
              <a:buChar char="•"/>
              <a:defRPr/>
            </a:lvl4pPr>
            <a:lvl5pPr marL="1543050" indent="-171450">
              <a:buClr>
                <a:schemeClr val="tx2"/>
              </a:buClr>
              <a:buSzPct val="10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1DAB3E19-C694-48C9-A075-30AE03F41ABD}"/>
              </a:ext>
            </a:extLst>
          </p:cNvPr>
          <p:cNvSpPr/>
          <p:nvPr userDrawn="1"/>
        </p:nvSpPr>
        <p:spPr>
          <a:xfrm>
            <a:off x="0" y="6389512"/>
            <a:ext cx="12192000" cy="4684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000" b="0" i="0">
              <a:latin typeface="Arial" panose="020B0604020202020204" pitchFamily="34" charset="0"/>
            </a:endParaRPr>
          </a:p>
        </p:txBody>
      </p:sp>
      <p:pic>
        <p:nvPicPr>
          <p:cNvPr id="20" name="Picture 19" descr="Background pattern&#10;&#10;Description automatically generated">
            <a:extLst>
              <a:ext uri="{FF2B5EF4-FFF2-40B4-BE49-F238E27FC236}">
                <a16:creationId xmlns:a16="http://schemas.microsoft.com/office/drawing/2014/main" id="{2CD37670-6197-46CB-97A3-9C572004191E}"/>
              </a:ext>
            </a:extLst>
          </p:cNvPr>
          <p:cNvPicPr>
            <a:picLocks noChangeAspect="1"/>
          </p:cNvPicPr>
          <p:nvPr userDrawn="1"/>
        </p:nvPicPr>
        <p:blipFill rotWithShape="1">
          <a:blip r:embed="rId5">
            <a:alphaModFix amt="55000"/>
          </a:blip>
          <a:srcRect l="7265" t="10945" r="7265" b="83742"/>
          <a:stretch/>
        </p:blipFill>
        <p:spPr>
          <a:xfrm>
            <a:off x="0" y="6391656"/>
            <a:ext cx="12192000" cy="466344"/>
          </a:xfrm>
          <a:prstGeom prst="rect">
            <a:avLst/>
          </a:prstGeom>
        </p:spPr>
      </p:pic>
      <p:pic>
        <p:nvPicPr>
          <p:cNvPr id="22" name="Picture 21" descr="Logo&#10;&#10;Description automatically generated">
            <a:extLst>
              <a:ext uri="{FF2B5EF4-FFF2-40B4-BE49-F238E27FC236}">
                <a16:creationId xmlns:a16="http://schemas.microsoft.com/office/drawing/2014/main" id="{CB013546-09D8-42CB-A9E9-447DCF70E221}"/>
              </a:ext>
            </a:extLst>
          </p:cNvPr>
          <p:cNvPicPr>
            <a:picLocks noChangeAspect="1"/>
          </p:cNvPicPr>
          <p:nvPr userDrawn="1"/>
        </p:nvPicPr>
        <p:blipFill>
          <a:blip r:embed="rId6"/>
          <a:stretch>
            <a:fillRect/>
          </a:stretch>
        </p:blipFill>
        <p:spPr>
          <a:xfrm>
            <a:off x="832799" y="6123617"/>
            <a:ext cx="1547864" cy="736848"/>
          </a:xfrm>
          <a:prstGeom prst="rect">
            <a:avLst/>
          </a:prstGeom>
        </p:spPr>
      </p:pic>
    </p:spTree>
    <p:extLst>
      <p:ext uri="{BB962C8B-B14F-4D97-AF65-F5344CB8AC3E}">
        <p14:creationId xmlns:p14="http://schemas.microsoft.com/office/powerpoint/2010/main" val="1618303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losing Slide Gold Pattern">
    <p:bg>
      <p:bgPr>
        <a:solidFill>
          <a:schemeClr val="accent1"/>
        </a:solidFill>
        <a:effectLst/>
      </p:bgPr>
    </p:bg>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9BB63A72-0B5A-47DE-A36D-6602070F570A}"/>
              </a:ext>
            </a:extLst>
          </p:cNvPr>
          <p:cNvPicPr>
            <a:picLocks noChangeAspect="1"/>
          </p:cNvPicPr>
          <p:nvPr userDrawn="1"/>
        </p:nvPicPr>
        <p:blipFill rotWithShape="1">
          <a:blip r:embed="rId2">
            <a:alphaModFix amt="55000"/>
          </a:blip>
          <a:srcRect l="1" t="1" r="31995" b="32272"/>
          <a:stretch/>
        </p:blipFill>
        <p:spPr>
          <a:xfrm>
            <a:off x="-1" y="-1"/>
            <a:ext cx="12188952" cy="6858000"/>
          </a:xfrm>
          <a:prstGeom prst="rect">
            <a:avLst/>
          </a:prstGeom>
        </p:spPr>
      </p:pic>
      <p:sp>
        <p:nvSpPr>
          <p:cNvPr id="19" name="Title 1">
            <a:extLst>
              <a:ext uri="{FF2B5EF4-FFF2-40B4-BE49-F238E27FC236}">
                <a16:creationId xmlns:a16="http://schemas.microsoft.com/office/drawing/2014/main" id="{AC533B8E-DBF3-664D-901D-8735DE775212}"/>
              </a:ext>
            </a:extLst>
          </p:cNvPr>
          <p:cNvSpPr>
            <a:spLocks noGrp="1"/>
          </p:cNvSpPr>
          <p:nvPr>
            <p:ph type="ctrTitle" hasCustomPrompt="1"/>
          </p:nvPr>
        </p:nvSpPr>
        <p:spPr>
          <a:xfrm>
            <a:off x="838199" y="3367174"/>
            <a:ext cx="9144000" cy="1843238"/>
          </a:xfrm>
        </p:spPr>
        <p:txBody>
          <a:bodyPr anchor="t" anchorCtr="0">
            <a:normAutofit/>
          </a:bodyPr>
          <a:lstStyle>
            <a:lvl1pPr algn="l">
              <a:defRPr sz="6000" b="1">
                <a:solidFill>
                  <a:schemeClr val="tx1"/>
                </a:solidFill>
                <a:latin typeface="Arial" panose="020B0604020202020204" pitchFamily="34" charset="0"/>
                <a:cs typeface="Arial" panose="020B0604020202020204" pitchFamily="34" charset="0"/>
              </a:defRPr>
            </a:lvl1pPr>
          </a:lstStyle>
          <a:p>
            <a:r>
              <a:rPr lang="en-US"/>
              <a:t>Closing Slide Header</a:t>
            </a:r>
          </a:p>
        </p:txBody>
      </p:sp>
      <p:sp>
        <p:nvSpPr>
          <p:cNvPr id="20" name="Footer Placeholder 4">
            <a:extLst>
              <a:ext uri="{FF2B5EF4-FFF2-40B4-BE49-F238E27FC236}">
                <a16:creationId xmlns:a16="http://schemas.microsoft.com/office/drawing/2014/main" id="{4D36833F-B2C7-1C49-9947-A60C1ACB0296}"/>
              </a:ext>
            </a:extLst>
          </p:cNvPr>
          <p:cNvSpPr>
            <a:spLocks noGrp="1"/>
          </p:cNvSpPr>
          <p:nvPr>
            <p:ph type="ftr" sz="quarter" idx="3"/>
          </p:nvPr>
        </p:nvSpPr>
        <p:spPr>
          <a:xfrm>
            <a:off x="850557" y="2463765"/>
            <a:ext cx="8684173" cy="365125"/>
          </a:xfrm>
          <a:prstGeom prst="rect">
            <a:avLst/>
          </a:prstGeom>
          <a:noFill/>
        </p:spPr>
        <p:txBody>
          <a:bodyPr vert="horz" lIns="91440" tIns="45720" rIns="91440" bIns="45720" rtlCol="0" anchor="ctr"/>
          <a:lstStyle>
            <a:lvl1pPr algn="l">
              <a:defRPr sz="2400" b="0">
                <a:solidFill>
                  <a:schemeClr val="tx1"/>
                </a:solidFill>
              </a:defRPr>
            </a:lvl1pPr>
          </a:lstStyle>
          <a:p>
            <a:r>
              <a:rPr lang="en-US"/>
              <a:t>Tippie College of Business</a:t>
            </a:r>
          </a:p>
        </p:txBody>
      </p:sp>
      <p:cxnSp>
        <p:nvCxnSpPr>
          <p:cNvPr id="21" name="Straight Connector 20">
            <a:extLst>
              <a:ext uri="{FF2B5EF4-FFF2-40B4-BE49-F238E27FC236}">
                <a16:creationId xmlns:a16="http://schemas.microsoft.com/office/drawing/2014/main" id="{4F7216A4-2452-1B4B-AE0D-122E7F5A5965}"/>
              </a:ext>
            </a:extLst>
          </p:cNvPr>
          <p:cNvCxnSpPr>
            <a:cxnSpLocks/>
          </p:cNvCxnSpPr>
          <p:nvPr userDrawn="1"/>
        </p:nvCxnSpPr>
        <p:spPr>
          <a:xfrm>
            <a:off x="974127" y="3029213"/>
            <a:ext cx="768531"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5" descr="Logo&#10;&#10;Description automatically generated">
            <a:extLst>
              <a:ext uri="{FF2B5EF4-FFF2-40B4-BE49-F238E27FC236}">
                <a16:creationId xmlns:a16="http://schemas.microsoft.com/office/drawing/2014/main" id="{3C066EB6-8972-48C9-A2D4-06C14DDFA986}"/>
              </a:ext>
            </a:extLst>
          </p:cNvPr>
          <p:cNvPicPr>
            <a:picLocks noChangeAspect="1"/>
          </p:cNvPicPr>
          <p:nvPr userDrawn="1"/>
        </p:nvPicPr>
        <p:blipFill>
          <a:blip r:embed="rId3"/>
          <a:stretch>
            <a:fillRect/>
          </a:stretch>
        </p:blipFill>
        <p:spPr>
          <a:xfrm>
            <a:off x="8635313" y="1"/>
            <a:ext cx="2693773" cy="1282349"/>
          </a:xfrm>
          <a:prstGeom prst="rect">
            <a:avLst/>
          </a:prstGeom>
        </p:spPr>
      </p:pic>
    </p:spTree>
    <p:extLst>
      <p:ext uri="{BB962C8B-B14F-4D97-AF65-F5344CB8AC3E}">
        <p14:creationId xmlns:p14="http://schemas.microsoft.com/office/powerpoint/2010/main" val="3724492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ogo Only Slide Gold">
    <p:bg>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A6F581-218F-42A6-9E2C-C1DB4078E314}"/>
              </a:ext>
            </a:extLst>
          </p:cNvPr>
          <p:cNvPicPr>
            <a:picLocks noChangeAspect="1"/>
          </p:cNvPicPr>
          <p:nvPr userDrawn="1"/>
        </p:nvPicPr>
        <p:blipFill>
          <a:blip r:embed="rId2"/>
          <a:stretch>
            <a:fillRect/>
          </a:stretch>
        </p:blipFill>
        <p:spPr>
          <a:xfrm>
            <a:off x="2286000" y="1524000"/>
            <a:ext cx="7620000" cy="3810000"/>
          </a:xfrm>
          <a:prstGeom prst="rect">
            <a:avLst/>
          </a:prstGeom>
        </p:spPr>
      </p:pic>
    </p:spTree>
    <p:extLst>
      <p:ext uri="{BB962C8B-B14F-4D97-AF65-F5344CB8AC3E}">
        <p14:creationId xmlns:p14="http://schemas.microsoft.com/office/powerpoint/2010/main" val="39175421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ection Slide – Photo Background">
    <p:bg>
      <p:bgPr>
        <a:solidFill>
          <a:schemeClr val="bg1"/>
        </a:solidFill>
        <a:effectLst/>
      </p:bgPr>
    </p:bg>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5FFEA7CF-83E7-764C-ABBA-82BBDBDAEC0D}"/>
              </a:ext>
            </a:extLst>
          </p:cNvPr>
          <p:cNvSpPr>
            <a:spLocks noGrp="1"/>
          </p:cNvSpPr>
          <p:nvPr>
            <p:ph type="pic" sz="quarter" idx="11"/>
          </p:nvPr>
        </p:nvSpPr>
        <p:spPr>
          <a:xfrm>
            <a:off x="0" y="0"/>
            <a:ext cx="12192000" cy="6858000"/>
          </a:xfrm>
        </p:spPr>
        <p:txBody>
          <a:bodyPr anchor="ctr" anchorCtr="0"/>
          <a:lstStyle>
            <a:lvl1pPr marL="0" indent="0" algn="ctr">
              <a:buNone/>
              <a:defRPr>
                <a:solidFill>
                  <a:schemeClr val="accent3"/>
                </a:solidFill>
              </a:defRPr>
            </a:lvl1pPr>
          </a:lstStyle>
          <a:p>
            <a:r>
              <a:rPr lang="en-US"/>
              <a:t>Click icon to add picture</a:t>
            </a:r>
          </a:p>
        </p:txBody>
      </p:sp>
      <p:sp>
        <p:nvSpPr>
          <p:cNvPr id="7" name="Text Placeholder 6">
            <a:extLst>
              <a:ext uri="{FF2B5EF4-FFF2-40B4-BE49-F238E27FC236}">
                <a16:creationId xmlns:a16="http://schemas.microsoft.com/office/drawing/2014/main" id="{8E5B506F-BBA1-9842-893B-0EB9BFBD1D66}"/>
              </a:ext>
            </a:extLst>
          </p:cNvPr>
          <p:cNvSpPr>
            <a:spLocks noGrp="1"/>
          </p:cNvSpPr>
          <p:nvPr>
            <p:ph type="body" sz="quarter" idx="12" hasCustomPrompt="1"/>
          </p:nvPr>
        </p:nvSpPr>
        <p:spPr>
          <a:xfrm>
            <a:off x="1072634" y="2316952"/>
            <a:ext cx="4769254" cy="707886"/>
          </a:xfrm>
          <a:solidFill>
            <a:schemeClr val="accent1"/>
          </a:solidFill>
        </p:spPr>
        <p:txBody>
          <a:bodyPr vert="horz" wrap="none" lIns="91440" anchor="ctr" anchorCtr="0">
            <a:spAutoFit/>
          </a:bodyPr>
          <a:lstStyle>
            <a:lvl1pPr marL="0" indent="0">
              <a:buNone/>
              <a:defRPr sz="4000" b="1"/>
            </a:lvl1pPr>
            <a:lvl2pPr marL="457200" indent="0">
              <a:buNone/>
              <a:defRPr/>
            </a:lvl2pPr>
            <a:lvl3pPr marL="914400" indent="0">
              <a:buNone/>
              <a:defRPr/>
            </a:lvl3pPr>
            <a:lvl4pPr marL="1371600" indent="0">
              <a:buNone/>
              <a:defRPr/>
            </a:lvl4pPr>
            <a:lvl5pPr marL="1828800" indent="0">
              <a:buNone/>
              <a:defRPr/>
            </a:lvl5pPr>
          </a:lstStyle>
          <a:p>
            <a:pPr lvl="0"/>
            <a:r>
              <a:rPr lang="en-US"/>
              <a:t>SECTION HEADER</a:t>
            </a:r>
          </a:p>
        </p:txBody>
      </p:sp>
    </p:spTree>
    <p:extLst>
      <p:ext uri="{BB962C8B-B14F-4D97-AF65-F5344CB8AC3E}">
        <p14:creationId xmlns:p14="http://schemas.microsoft.com/office/powerpoint/2010/main" val="29304142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5048775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A39F0AE-21FF-4F74-9034-8D41907FCA40}" type="datetimeFigureOut">
              <a:rPr lang="en-US" smtClean="0"/>
              <a:t>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DF20442-7351-4DC0-B238-61318D50CC8B}" type="slidenum">
              <a:rPr lang="en-US" smtClean="0"/>
              <a:t>‹#›</a:t>
            </a:fld>
            <a:endParaRPr lang="en-US"/>
          </a:p>
        </p:txBody>
      </p:sp>
    </p:spTree>
    <p:extLst>
      <p:ext uri="{BB962C8B-B14F-4D97-AF65-F5344CB8AC3E}">
        <p14:creationId xmlns:p14="http://schemas.microsoft.com/office/powerpoint/2010/main" val="28148058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21"/>
          </p:nvPr>
        </p:nvSpPr>
        <p:spPr>
          <a:xfrm>
            <a:off x="1460500" y="165100"/>
            <a:ext cx="9271000" cy="4603751"/>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317500" y="4756150"/>
            <a:ext cx="11557000" cy="1003300"/>
          </a:xfrm>
          <a:prstGeom prst="rect">
            <a:avLst/>
          </a:prstGeom>
        </p:spPr>
        <p:txBody>
          <a:bodyPr/>
          <a:lstStyle/>
          <a:p>
            <a:r>
              <a:t>Title Text</a:t>
            </a:r>
          </a:p>
        </p:txBody>
      </p:sp>
      <p:sp>
        <p:nvSpPr>
          <p:cNvPr id="22" name="Body Level One…"/>
          <p:cNvSpPr txBox="1">
            <a:spLocks noGrp="1"/>
          </p:cNvSpPr>
          <p:nvPr>
            <p:ph type="body" sz="quarter" idx="1"/>
          </p:nvPr>
        </p:nvSpPr>
        <p:spPr>
          <a:xfrm>
            <a:off x="317500" y="5721350"/>
            <a:ext cx="11557000" cy="793750"/>
          </a:xfrm>
          <a:prstGeom prst="rect">
            <a:avLst/>
          </a:prstGeom>
        </p:spPr>
        <p:txBody>
          <a:bodyPr anchor="t"/>
          <a:lstStyle>
            <a:lvl1pPr marL="0" indent="0" algn="ctr">
              <a:spcBef>
                <a:spcPts val="0"/>
              </a:spcBef>
              <a:buClrTx/>
              <a:buSzTx/>
              <a:buNone/>
              <a:defRPr sz="2700"/>
            </a:lvl1pPr>
            <a:lvl2pPr marL="0" indent="0" algn="ctr">
              <a:spcBef>
                <a:spcPts val="0"/>
              </a:spcBef>
              <a:buClrTx/>
              <a:buSzTx/>
              <a:buNone/>
              <a:defRPr sz="2700"/>
            </a:lvl2pPr>
            <a:lvl3pPr marL="0" indent="0" algn="ctr">
              <a:spcBef>
                <a:spcPts val="0"/>
              </a:spcBef>
              <a:buClrTx/>
              <a:buSzTx/>
              <a:buNone/>
              <a:defRPr sz="2700"/>
            </a:lvl3pPr>
            <a:lvl4pPr marL="0" indent="0" algn="ctr">
              <a:spcBef>
                <a:spcPts val="0"/>
              </a:spcBef>
              <a:buClrTx/>
              <a:buSzTx/>
              <a:buNone/>
              <a:defRPr sz="2700"/>
            </a:lvl4pPr>
            <a:lvl5pPr marL="0" indent="0" algn="ctr">
              <a:spcBef>
                <a:spcPts val="0"/>
              </a:spcBef>
              <a:buClrTx/>
              <a:buSzTx/>
              <a:buNone/>
              <a:defRPr sz="2700"/>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72523135"/>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name="Content with Picture 8">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anchor="b"/>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a:lstStyle/>
          <a:p>
            <a:r>
              <a:rPr lang="en-US" dirty="0"/>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BCB8B90-98AD-44EA-88CB-87E0482D47C5}" type="datetime1">
              <a:rPr lang="en-US" smtClean="0"/>
              <a:t>2/3/26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095221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47C82-65E8-6F4A-93F5-B60D5D90FAEC}"/>
              </a:ext>
            </a:extLst>
          </p:cNvPr>
          <p:cNvSpPr>
            <a:spLocks noGrp="1"/>
          </p:cNvSpPr>
          <p:nvPr>
            <p:ph type="title"/>
          </p:nvPr>
        </p:nvSpPr>
        <p:spPr>
          <a:xfrm>
            <a:off x="838200" y="365126"/>
            <a:ext cx="10515600" cy="89611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0D0A12C-E82E-3F40-8F2F-F914F24F0B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81016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dt="0"/>
  <p:txStyles>
    <p:titleStyle>
      <a:lvl1pPr algn="l" defTabSz="914400" rtl="0" eaLnBrk="1" latinLnBrk="0" hangingPunct="1">
        <a:lnSpc>
          <a:spcPct val="90000"/>
        </a:lnSpc>
        <a:spcBef>
          <a:spcPct val="0"/>
        </a:spcBef>
        <a:buNone/>
        <a:defRPr sz="40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E14E2-0FA7-6D3F-1106-E9EB4B23597F}"/>
              </a:ext>
            </a:extLst>
          </p:cNvPr>
          <p:cNvSpPr>
            <a:spLocks noGrp="1"/>
          </p:cNvSpPr>
          <p:nvPr>
            <p:ph type="title"/>
          </p:nvPr>
        </p:nvSpPr>
        <p:spPr/>
        <p:txBody>
          <a:bodyPr>
            <a:noAutofit/>
          </a:bodyPr>
          <a:lstStyle/>
          <a:p>
            <a:r>
              <a:rPr lang="en-US" sz="2800" dirty="0"/>
              <a:t>Market Research Paper (due Friday, March 6, 11:59pm) </a:t>
            </a:r>
          </a:p>
        </p:txBody>
      </p:sp>
      <p:sp>
        <p:nvSpPr>
          <p:cNvPr id="3" name="Content Placeholder 2">
            <a:extLst>
              <a:ext uri="{FF2B5EF4-FFF2-40B4-BE49-F238E27FC236}">
                <a16:creationId xmlns:a16="http://schemas.microsoft.com/office/drawing/2014/main" id="{22BC8EB4-819B-F0F9-F797-4048E646028C}"/>
              </a:ext>
            </a:extLst>
          </p:cNvPr>
          <p:cNvSpPr>
            <a:spLocks noGrp="1"/>
          </p:cNvSpPr>
          <p:nvPr>
            <p:ph idx="1"/>
          </p:nvPr>
        </p:nvSpPr>
        <p:spPr>
          <a:xfrm>
            <a:off x="838200" y="1591689"/>
            <a:ext cx="10515600" cy="4772038"/>
          </a:xfrm>
        </p:spPr>
        <p:txBody>
          <a:bodyPr>
            <a:normAutofit fontScale="70000" lnSpcReduction="20000"/>
          </a:bodyPr>
          <a:lstStyle/>
          <a:p>
            <a:pPr lvl="0">
              <a:buFont typeface="Arial" panose="020B0604020202020204" pitchFamily="34" charset="0"/>
              <a:buChar char="•"/>
            </a:pPr>
            <a:r>
              <a:rPr lang="en-US" dirty="0"/>
              <a:t>Conduct a </a:t>
            </a:r>
            <a:r>
              <a:rPr lang="en-US" b="1" dirty="0"/>
              <a:t>SWOT</a:t>
            </a:r>
            <a:r>
              <a:rPr lang="en-US" dirty="0"/>
              <a:t> analysis of the brand you have been assigned (e.g., Dirt Devil, Hoover, Milwaukee, or Ryobi). This involves looking at the internal and external factors that can impact the company's success.</a:t>
            </a:r>
          </a:p>
          <a:p>
            <a:pPr lvl="0">
              <a:buFont typeface="Arial" panose="020B0604020202020204" pitchFamily="34" charset="0"/>
              <a:buChar char="•"/>
            </a:pPr>
            <a:r>
              <a:rPr lang="en-US" dirty="0"/>
              <a:t>Perform a </a:t>
            </a:r>
            <a:r>
              <a:rPr lang="en-US" b="1" dirty="0"/>
              <a:t>competitor analysis</a:t>
            </a:r>
            <a:r>
              <a:rPr lang="en-US" dirty="0"/>
              <a:t> to understand the company's competitive landscape. This includes identifying the company's main competitors, analyzing their strengths and weaknesses, and determining how the company compares to them in terms of market share, product offerings, and pricing.</a:t>
            </a:r>
          </a:p>
          <a:p>
            <a:pPr lvl="0">
              <a:buFont typeface="Arial" panose="020B0604020202020204" pitchFamily="34" charset="0"/>
              <a:buChar char="•"/>
            </a:pPr>
            <a:r>
              <a:rPr lang="en-US" dirty="0"/>
              <a:t>Conduct a </a:t>
            </a:r>
            <a:r>
              <a:rPr lang="en-US" b="1" dirty="0"/>
              <a:t>customer analysis</a:t>
            </a:r>
            <a:r>
              <a:rPr lang="en-US" dirty="0"/>
              <a:t> to understand the company's target market. This includes identifying the demographics, needs, and behaviors of the company's customers, as well as how the company's products or services meet those needs.</a:t>
            </a:r>
          </a:p>
          <a:p>
            <a:pPr lvl="0">
              <a:buFont typeface="Arial" panose="020B0604020202020204" pitchFamily="34" charset="0"/>
              <a:buChar char="•"/>
            </a:pPr>
            <a:r>
              <a:rPr lang="en-US" dirty="0"/>
              <a:t>Analyze the company's </a:t>
            </a:r>
            <a:r>
              <a:rPr lang="en-US" b="1" dirty="0"/>
              <a:t>marketing mix</a:t>
            </a:r>
            <a:r>
              <a:rPr lang="en-US" dirty="0"/>
              <a:t> (product, price, promotion, and place). This involves looking at how the company positions its products in the market and how it promotes and sells them.</a:t>
            </a:r>
          </a:p>
          <a:p>
            <a:pPr lvl="0">
              <a:buFont typeface="Arial" panose="020B0604020202020204" pitchFamily="34" charset="0"/>
              <a:buChar char="•"/>
            </a:pPr>
            <a:r>
              <a:rPr lang="en-US" dirty="0"/>
              <a:t>Analyze </a:t>
            </a:r>
            <a:r>
              <a:rPr lang="en-US" b="1" dirty="0"/>
              <a:t>trends</a:t>
            </a:r>
            <a:r>
              <a:rPr lang="en-US" dirty="0"/>
              <a:t> in the marketing environment to identify opportunities for new products or services. This could involve looking at trends in consumer behavior, technological advancements, or changes in the competitive landscape.</a:t>
            </a:r>
          </a:p>
        </p:txBody>
      </p:sp>
    </p:spTree>
    <p:extLst>
      <p:ext uri="{BB962C8B-B14F-4D97-AF65-F5344CB8AC3E}">
        <p14:creationId xmlns:p14="http://schemas.microsoft.com/office/powerpoint/2010/main" val="890152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9DF6-7A0C-D85C-DDB0-306E2E9EA1D4}"/>
              </a:ext>
            </a:extLst>
          </p:cNvPr>
          <p:cNvSpPr>
            <a:spLocks noGrp="1"/>
          </p:cNvSpPr>
          <p:nvPr>
            <p:ph type="title"/>
          </p:nvPr>
        </p:nvSpPr>
        <p:spPr/>
        <p:txBody>
          <a:bodyPr anchor="b">
            <a:normAutofit/>
          </a:bodyPr>
          <a:lstStyle/>
          <a:p>
            <a:r>
              <a:rPr lang="en-US" dirty="0"/>
              <a:t>SWOT Analysis Overview</a:t>
            </a:r>
          </a:p>
        </p:txBody>
      </p:sp>
      <p:sp>
        <p:nvSpPr>
          <p:cNvPr id="4" name="Content Placeholder 3">
            <a:extLst>
              <a:ext uri="{FF2B5EF4-FFF2-40B4-BE49-F238E27FC236}">
                <a16:creationId xmlns:a16="http://schemas.microsoft.com/office/drawing/2014/main" id="{3914F984-E20C-B392-DB43-A76F4A12BEE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8199" y="1591689"/>
            <a:ext cx="10416745" cy="4388698"/>
          </a:xfrm>
        </p:spPr>
        <p:txBody>
          <a:bodyPr>
            <a:normAutofit fontScale="92500" lnSpcReduction="20000"/>
          </a:bodyPr>
          <a:lstStyle/>
          <a:p>
            <a:pPr marL="0" indent="0">
              <a:lnSpc>
                <a:spcPct val="110000"/>
              </a:lnSpc>
              <a:spcBef>
                <a:spcPts val="2500"/>
              </a:spcBef>
              <a:buFont typeface="Arial" panose="020B0604020202020204" pitchFamily="34" charset="0"/>
              <a:buNone/>
            </a:pPr>
            <a:r>
              <a:rPr lang="en-US" b="1" dirty="0"/>
              <a:t>Internal Strengths – what do we do better than competitors?</a:t>
            </a:r>
          </a:p>
          <a:p>
            <a:pPr marL="342900" lvl="1" indent="-342900">
              <a:lnSpc>
                <a:spcPct val="110000"/>
              </a:lnSpc>
            </a:pPr>
            <a:r>
              <a:rPr lang="en-US" dirty="0"/>
              <a:t>Brand reputation, product quality or innovation, distribution strength, price/value positioning</a:t>
            </a:r>
          </a:p>
          <a:p>
            <a:pPr marL="0" lvl="1" indent="0">
              <a:lnSpc>
                <a:spcPct val="110000"/>
              </a:lnSpc>
              <a:buFont typeface="Arial" panose="020B0604020202020204" pitchFamily="34" charset="0"/>
              <a:buNone/>
            </a:pPr>
            <a:r>
              <a:rPr lang="en-US" b="1" dirty="0"/>
              <a:t>Internal Weaknesses – where do we struggle or fall behind?</a:t>
            </a:r>
          </a:p>
          <a:p>
            <a:pPr marL="342900" lvl="1" indent="-342900">
              <a:lnSpc>
                <a:spcPct val="110000"/>
              </a:lnSpc>
            </a:pPr>
            <a:r>
              <a:rPr lang="en-US" dirty="0"/>
              <a:t>Limited product lines, inconsistent quality perception, weak brand awareness, poor differentiation</a:t>
            </a:r>
          </a:p>
          <a:p>
            <a:pPr marL="0" lvl="1" indent="0">
              <a:lnSpc>
                <a:spcPct val="110000"/>
              </a:lnSpc>
              <a:buFont typeface="Arial" panose="020B0604020202020204" pitchFamily="34" charset="0"/>
              <a:buNone/>
            </a:pPr>
            <a:r>
              <a:rPr lang="en-US" b="1" dirty="0"/>
              <a:t>External Opportunities – what trends could the brand exploit?</a:t>
            </a:r>
          </a:p>
          <a:p>
            <a:pPr marL="342900" lvl="1" indent="-342900">
              <a:lnSpc>
                <a:spcPct val="110000"/>
              </a:lnSpc>
            </a:pPr>
            <a:r>
              <a:rPr lang="en-US" dirty="0"/>
              <a:t>New customer segments, e-commerce growth, sustainability trends, smart/connected products</a:t>
            </a:r>
          </a:p>
          <a:p>
            <a:pPr marL="0" lvl="1" indent="0">
              <a:lnSpc>
                <a:spcPct val="110000"/>
              </a:lnSpc>
              <a:buFont typeface="Arial" panose="020B0604020202020204" pitchFamily="34" charset="0"/>
              <a:buNone/>
            </a:pPr>
            <a:r>
              <a:rPr lang="en-US" b="1" dirty="0"/>
              <a:t>External Threats – what external forces could hurt us?</a:t>
            </a:r>
          </a:p>
          <a:p>
            <a:pPr marL="342900" lvl="1" indent="-342900">
              <a:lnSpc>
                <a:spcPct val="110000"/>
              </a:lnSpc>
            </a:pPr>
            <a:r>
              <a:rPr lang="en-US" dirty="0"/>
              <a:t>Rising costs, strong competitors, private labels, price wars, technological disruption</a:t>
            </a:r>
          </a:p>
        </p:txBody>
      </p:sp>
    </p:spTree>
    <p:extLst>
      <p:ext uri="{BB962C8B-B14F-4D97-AF65-F5344CB8AC3E}">
        <p14:creationId xmlns:p14="http://schemas.microsoft.com/office/powerpoint/2010/main" val="3305868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BA0DC-99A4-033E-FD83-0BCADD67AFB9}"/>
              </a:ext>
            </a:extLst>
          </p:cNvPr>
          <p:cNvSpPr>
            <a:spLocks noGrp="1"/>
          </p:cNvSpPr>
          <p:nvPr>
            <p:ph type="title"/>
          </p:nvPr>
        </p:nvSpPr>
        <p:spPr/>
        <p:txBody>
          <a:bodyPr anchor="b">
            <a:normAutofit/>
          </a:bodyPr>
          <a:lstStyle/>
          <a:p>
            <a:r>
              <a:rPr lang="en-US" dirty="0"/>
              <a:t>Competitor Analysis (a table?)</a:t>
            </a:r>
          </a:p>
        </p:txBody>
      </p:sp>
      <p:sp>
        <p:nvSpPr>
          <p:cNvPr id="4" name="Content Placeholder 3">
            <a:extLst>
              <a:ext uri="{FF2B5EF4-FFF2-40B4-BE49-F238E27FC236}">
                <a16:creationId xmlns:a16="http://schemas.microsoft.com/office/drawing/2014/main" id="{B6F8918B-028C-8790-79BA-9727FC0676D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8200" y="1591689"/>
            <a:ext cx="10515600" cy="4388698"/>
          </a:xfrm>
        </p:spPr>
        <p:txBody>
          <a:bodyPr>
            <a:normAutofit fontScale="70000" lnSpcReduction="20000"/>
          </a:bodyPr>
          <a:lstStyle/>
          <a:p>
            <a:pPr marL="0" indent="0">
              <a:lnSpc>
                <a:spcPct val="110000"/>
              </a:lnSpc>
              <a:spcBef>
                <a:spcPts val="2500"/>
              </a:spcBef>
              <a:buFont typeface="Arial" panose="020B0604020202020204" pitchFamily="34" charset="0"/>
              <a:buNone/>
            </a:pPr>
            <a:r>
              <a:rPr lang="en-US" b="1" dirty="0"/>
              <a:t>Analyzing Competitor Features</a:t>
            </a:r>
          </a:p>
          <a:p>
            <a:pPr marL="0" lvl="1" indent="0">
              <a:lnSpc>
                <a:spcPct val="110000"/>
              </a:lnSpc>
              <a:buFont typeface="Arial" panose="020B0604020202020204" pitchFamily="34" charset="0"/>
              <a:buNone/>
            </a:pPr>
            <a:r>
              <a:rPr dirty="0"/>
              <a:t>Assess product features, pricing, innovation, distribution, and marketing to evaluate competitors comprehensively.</a:t>
            </a:r>
            <a:endParaRPr lang="en-US" dirty="0"/>
          </a:p>
          <a:p>
            <a:pPr marL="0" indent="0">
              <a:lnSpc>
                <a:spcPct val="110000"/>
              </a:lnSpc>
              <a:spcBef>
                <a:spcPts val="2500"/>
              </a:spcBef>
              <a:buFont typeface="Arial" panose="020B0604020202020204" pitchFamily="34" charset="0"/>
              <a:buNone/>
            </a:pPr>
            <a:r>
              <a:rPr lang="en-US" b="1" dirty="0"/>
              <a:t>Identifying Strengths and Weaknesses</a:t>
            </a:r>
          </a:p>
          <a:p>
            <a:pPr marL="0" lvl="1" indent="0">
              <a:lnSpc>
                <a:spcPct val="110000"/>
              </a:lnSpc>
              <a:buFont typeface="Arial" panose="020B0604020202020204" pitchFamily="34" charset="0"/>
              <a:buNone/>
            </a:pPr>
            <a:r>
              <a:rPr dirty="0"/>
              <a:t>Recognize competitor strengths like broad portfolios and weaknesses such as poor service to uncover opportunities.</a:t>
            </a:r>
            <a:endParaRPr lang="en-US" dirty="0"/>
          </a:p>
          <a:p>
            <a:pPr marL="0" indent="0">
              <a:lnSpc>
                <a:spcPct val="110000"/>
              </a:lnSpc>
              <a:spcBef>
                <a:spcPts val="2500"/>
              </a:spcBef>
              <a:buFont typeface="Arial" panose="020B0604020202020204" pitchFamily="34" charset="0"/>
              <a:buNone/>
            </a:pPr>
            <a:r>
              <a:rPr lang="en-US" b="1" dirty="0"/>
              <a:t>Market Share and Positioning</a:t>
            </a:r>
          </a:p>
          <a:p>
            <a:pPr marL="0" lvl="1" indent="0">
              <a:lnSpc>
                <a:spcPct val="110000"/>
              </a:lnSpc>
              <a:buFont typeface="Arial" panose="020B0604020202020204" pitchFamily="34" charset="0"/>
              <a:buNone/>
            </a:pPr>
            <a:r>
              <a:rPr dirty="0"/>
              <a:t>Compare market share and pricing to understand brand positioning from premium to value-driven segments.</a:t>
            </a:r>
            <a:endParaRPr lang="en-US" dirty="0"/>
          </a:p>
          <a:p>
            <a:pPr marL="0" indent="0">
              <a:lnSpc>
                <a:spcPct val="110000"/>
              </a:lnSpc>
              <a:spcBef>
                <a:spcPts val="2500"/>
              </a:spcBef>
              <a:buFont typeface="Arial" panose="020B0604020202020204" pitchFamily="34" charset="0"/>
              <a:buNone/>
            </a:pPr>
            <a:r>
              <a:rPr lang="en-US" b="1" dirty="0"/>
              <a:t>Strategic Insights</a:t>
            </a:r>
          </a:p>
          <a:p>
            <a:pPr marL="0" lvl="1" indent="0">
              <a:lnSpc>
                <a:spcPct val="110000"/>
              </a:lnSpc>
              <a:buFont typeface="Arial" panose="020B0604020202020204" pitchFamily="34" charset="0"/>
              <a:buNone/>
            </a:pPr>
            <a:r>
              <a:rPr dirty="0"/>
              <a:t>Use competitor insights to refine strategy, anticipate market shifts, and differentiate effectively in the market.</a:t>
            </a:r>
            <a:endParaRPr lang="en-US" dirty="0"/>
          </a:p>
        </p:txBody>
      </p:sp>
    </p:spTree>
    <p:extLst>
      <p:ext uri="{BB962C8B-B14F-4D97-AF65-F5344CB8AC3E}">
        <p14:creationId xmlns:p14="http://schemas.microsoft.com/office/powerpoint/2010/main" val="1053663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58910-5C4B-FF4A-32CA-5427F207A7B2}"/>
              </a:ext>
            </a:extLst>
          </p:cNvPr>
          <p:cNvSpPr>
            <a:spLocks noGrp="1"/>
          </p:cNvSpPr>
          <p:nvPr>
            <p:ph type="title"/>
          </p:nvPr>
        </p:nvSpPr>
        <p:spPr/>
        <p:txBody>
          <a:bodyPr anchor="b">
            <a:normAutofit/>
          </a:bodyPr>
          <a:lstStyle/>
          <a:p>
            <a:r>
              <a:rPr lang="en-US"/>
              <a:t>Customer Analysis</a:t>
            </a:r>
          </a:p>
        </p:txBody>
      </p:sp>
      <p:sp>
        <p:nvSpPr>
          <p:cNvPr id="4" name="Content Placeholder 3">
            <a:extLst>
              <a:ext uri="{FF2B5EF4-FFF2-40B4-BE49-F238E27FC236}">
                <a16:creationId xmlns:a16="http://schemas.microsoft.com/office/drawing/2014/main" id="{8FE962FB-6FD0-3A48-6EBC-C2B7B87901B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77500" lnSpcReduction="20000"/>
          </a:bodyPr>
          <a:lstStyle/>
          <a:p>
            <a:pPr marL="0" indent="0">
              <a:lnSpc>
                <a:spcPct val="110000"/>
              </a:lnSpc>
              <a:spcBef>
                <a:spcPts val="2500"/>
              </a:spcBef>
              <a:buFont typeface="Arial" panose="020B0604020202020204" pitchFamily="34" charset="0"/>
              <a:buNone/>
            </a:pPr>
            <a:r>
              <a:rPr lang="en-US" b="1" dirty="0"/>
              <a:t>Customer Demographics</a:t>
            </a:r>
          </a:p>
          <a:p>
            <a:pPr marL="0" lvl="1" indent="0">
              <a:lnSpc>
                <a:spcPct val="110000"/>
              </a:lnSpc>
              <a:buFont typeface="Arial" panose="020B0604020202020204" pitchFamily="34" charset="0"/>
              <a:buNone/>
            </a:pPr>
            <a:r>
              <a:rPr dirty="0"/>
              <a:t>Identify customer groups by age, income, lifestyle, and region to tailor products effectively.</a:t>
            </a:r>
            <a:endParaRPr lang="en-US" dirty="0"/>
          </a:p>
          <a:p>
            <a:pPr marL="0" indent="0">
              <a:lnSpc>
                <a:spcPct val="110000"/>
              </a:lnSpc>
              <a:spcBef>
                <a:spcPts val="2500"/>
              </a:spcBef>
              <a:buFont typeface="Arial" panose="020B0604020202020204" pitchFamily="34" charset="0"/>
              <a:buNone/>
            </a:pPr>
            <a:r>
              <a:rPr lang="en-US" b="1" dirty="0"/>
              <a:t>Behavioral Insights</a:t>
            </a:r>
          </a:p>
          <a:p>
            <a:pPr marL="0" lvl="1" indent="0">
              <a:lnSpc>
                <a:spcPct val="110000"/>
              </a:lnSpc>
              <a:buFont typeface="Arial" panose="020B0604020202020204" pitchFamily="34" charset="0"/>
              <a:buNone/>
            </a:pPr>
            <a:r>
              <a:rPr dirty="0"/>
              <a:t>Understand how customers shop, research, and make brand choices to improve customer engagement.</a:t>
            </a:r>
            <a:endParaRPr lang="en-US" dirty="0"/>
          </a:p>
          <a:p>
            <a:pPr marL="0" indent="0">
              <a:lnSpc>
                <a:spcPct val="110000"/>
              </a:lnSpc>
              <a:spcBef>
                <a:spcPts val="2500"/>
              </a:spcBef>
              <a:buFont typeface="Arial" panose="020B0604020202020204" pitchFamily="34" charset="0"/>
              <a:buNone/>
            </a:pPr>
            <a:r>
              <a:rPr lang="en-US" b="1" dirty="0"/>
              <a:t>Customer Needs and Preferences</a:t>
            </a:r>
          </a:p>
          <a:p>
            <a:pPr marL="0" lvl="1" indent="0">
              <a:lnSpc>
                <a:spcPct val="110000"/>
              </a:lnSpc>
              <a:buFont typeface="Arial" panose="020B0604020202020204" pitchFamily="34" charset="0"/>
              <a:buNone/>
            </a:pPr>
            <a:r>
              <a:rPr dirty="0"/>
              <a:t>Analyze motivations like affordability, durability, </a:t>
            </a:r>
            <a:r>
              <a:rPr lang="en-US" dirty="0"/>
              <a:t>ease of use, etc. </a:t>
            </a:r>
            <a:r>
              <a:rPr dirty="0"/>
              <a:t>meet customer expectations.</a:t>
            </a:r>
            <a:endParaRPr lang="en-US" dirty="0"/>
          </a:p>
          <a:p>
            <a:pPr marL="0" indent="0">
              <a:lnSpc>
                <a:spcPct val="110000"/>
              </a:lnSpc>
              <a:spcBef>
                <a:spcPts val="2500"/>
              </a:spcBef>
              <a:buFont typeface="Arial" panose="020B0604020202020204" pitchFamily="34" charset="0"/>
              <a:buNone/>
            </a:pPr>
            <a:r>
              <a:rPr lang="en-US" b="1" dirty="0"/>
              <a:t>Aligning Products and Marketing</a:t>
            </a:r>
          </a:p>
          <a:p>
            <a:pPr marL="0" lvl="1" indent="0">
              <a:lnSpc>
                <a:spcPct val="110000"/>
              </a:lnSpc>
              <a:buFont typeface="Arial" panose="020B0604020202020204" pitchFamily="34" charset="0"/>
              <a:buNone/>
            </a:pPr>
            <a:r>
              <a:rPr dirty="0"/>
              <a:t>Match product offerings and marketing strategies with customer expectations to build loyalty.</a:t>
            </a:r>
            <a:endParaRPr lang="en-US" dirty="0"/>
          </a:p>
        </p:txBody>
      </p:sp>
    </p:spTree>
    <p:extLst>
      <p:ext uri="{BB962C8B-B14F-4D97-AF65-F5344CB8AC3E}">
        <p14:creationId xmlns:p14="http://schemas.microsoft.com/office/powerpoint/2010/main" val="1429230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CB7A2-76BC-0540-E4F4-214A371F7CBB}"/>
              </a:ext>
            </a:extLst>
          </p:cNvPr>
          <p:cNvSpPr>
            <a:spLocks noGrp="1"/>
          </p:cNvSpPr>
          <p:nvPr>
            <p:ph type="title"/>
          </p:nvPr>
        </p:nvSpPr>
        <p:spPr/>
        <p:txBody>
          <a:bodyPr anchor="b">
            <a:normAutofit/>
          </a:bodyPr>
          <a:lstStyle/>
          <a:p>
            <a:r>
              <a:rPr lang="en-US"/>
              <a:t>Marketing Mix (4Ps)</a:t>
            </a:r>
          </a:p>
        </p:txBody>
      </p:sp>
      <p:sp>
        <p:nvSpPr>
          <p:cNvPr id="4" name="Content Placeholder 3">
            <a:extLst>
              <a:ext uri="{FF2B5EF4-FFF2-40B4-BE49-F238E27FC236}">
                <a16:creationId xmlns:a16="http://schemas.microsoft.com/office/drawing/2014/main" id="{CD73E4CC-FA45-8503-B6F0-D12BD164D8D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92500" lnSpcReduction="10000"/>
          </a:bodyPr>
          <a:lstStyle/>
          <a:p>
            <a:pPr marL="0" indent="0">
              <a:spcBef>
                <a:spcPts val="2500"/>
              </a:spcBef>
              <a:buFont typeface="Arial" panose="020B0604020202020204" pitchFamily="34" charset="0"/>
              <a:buNone/>
            </a:pPr>
            <a:r>
              <a:rPr lang="en-US" b="1" dirty="0"/>
              <a:t>Product Strategy</a:t>
            </a:r>
          </a:p>
          <a:p>
            <a:pPr marL="342900" lvl="1" indent="-342900"/>
            <a:r>
              <a:rPr lang="en-US" dirty="0"/>
              <a:t>Product variety, quality and features, design and branding, warranties or ecosystems</a:t>
            </a:r>
          </a:p>
          <a:p>
            <a:pPr marL="0" lvl="1" indent="0">
              <a:buFont typeface="Arial" panose="020B0604020202020204" pitchFamily="34" charset="0"/>
              <a:buNone/>
            </a:pPr>
            <a:r>
              <a:rPr lang="en-US" sz="2800" b="1" dirty="0"/>
              <a:t>Pricing Approach</a:t>
            </a:r>
          </a:p>
          <a:p>
            <a:pPr marL="342900" lvl="1" indent="-342900"/>
            <a:r>
              <a:rPr lang="en-US" dirty="0"/>
              <a:t>Premium vs value pricing, competitive pricing strategy, promotions or bundles</a:t>
            </a:r>
          </a:p>
          <a:p>
            <a:pPr marL="0" lvl="1" indent="0">
              <a:buNone/>
            </a:pPr>
            <a:r>
              <a:rPr lang="en-US" sz="2800" b="1" dirty="0"/>
              <a:t>Promotion Techniques</a:t>
            </a:r>
          </a:p>
          <a:p>
            <a:pPr marL="342900" lvl="1" indent="-342900"/>
            <a:r>
              <a:rPr lang="en-US" dirty="0"/>
              <a:t>Advertising channels, social media presence, influencers, sponsorships, in-store promotion</a:t>
            </a:r>
            <a:endParaRPr lang="en-US" b="1" dirty="0"/>
          </a:p>
          <a:p>
            <a:pPr marL="0" indent="0">
              <a:buNone/>
            </a:pPr>
            <a:r>
              <a:rPr lang="en-US" b="1" dirty="0"/>
              <a:t>Distribution Channels</a:t>
            </a:r>
          </a:p>
          <a:p>
            <a:pPr>
              <a:buFont typeface="Arial" panose="020B0604020202020204" pitchFamily="34" charset="0"/>
              <a:buChar char="•"/>
            </a:pPr>
            <a:r>
              <a:rPr lang="en-US" sz="2400" dirty="0"/>
              <a:t>Online vs brick-and-mortar, retail partners (Home Depot, Amazon, etc.), direct-to-consumer?</a:t>
            </a:r>
          </a:p>
        </p:txBody>
      </p:sp>
    </p:spTree>
    <p:extLst>
      <p:ext uri="{BB962C8B-B14F-4D97-AF65-F5344CB8AC3E}">
        <p14:creationId xmlns:p14="http://schemas.microsoft.com/office/powerpoint/2010/main" val="3739610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A4DB6-522F-9146-A1EF-6F8411CEA86D}"/>
              </a:ext>
            </a:extLst>
          </p:cNvPr>
          <p:cNvSpPr>
            <a:spLocks noGrp="1"/>
          </p:cNvSpPr>
          <p:nvPr>
            <p:ph type="title"/>
          </p:nvPr>
        </p:nvSpPr>
        <p:spPr/>
        <p:txBody>
          <a:bodyPr anchor="b">
            <a:normAutofit/>
          </a:bodyPr>
          <a:lstStyle/>
          <a:p>
            <a:r>
              <a:rPr lang="en-US" dirty="0"/>
              <a:t>Market Environment Trends </a:t>
            </a:r>
            <a:r>
              <a:rPr lang="en-US"/>
              <a:t>(examples)</a:t>
            </a:r>
          </a:p>
        </p:txBody>
      </p:sp>
      <p:sp>
        <p:nvSpPr>
          <p:cNvPr id="4" name="Content Placeholder 3">
            <a:extLst>
              <a:ext uri="{FF2B5EF4-FFF2-40B4-BE49-F238E27FC236}">
                <a16:creationId xmlns:a16="http://schemas.microsoft.com/office/drawing/2014/main" id="{0DFF2922-3AF1-4067-D5CA-4B71BA7B9B4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lnSpc>
                <a:spcPct val="110000"/>
              </a:lnSpc>
              <a:spcBef>
                <a:spcPts val="2500"/>
              </a:spcBef>
              <a:buFont typeface="Arial" panose="020B0604020202020204" pitchFamily="34" charset="0"/>
              <a:buNone/>
            </a:pPr>
            <a:r>
              <a:rPr lang="en-US" b="1" dirty="0"/>
              <a:t>Why does this trend matter </a:t>
            </a:r>
            <a:r>
              <a:rPr lang="en-US" b="1" u="sng" dirty="0"/>
              <a:t>for this brand</a:t>
            </a:r>
            <a:r>
              <a:rPr lang="en-US" b="1" dirty="0"/>
              <a:t>? </a:t>
            </a:r>
          </a:p>
          <a:p>
            <a:pPr marL="0" indent="0">
              <a:buNone/>
            </a:pPr>
            <a:r>
              <a:rPr lang="en-US" b="1" dirty="0"/>
              <a:t>Consumer Trends</a:t>
            </a:r>
          </a:p>
          <a:p>
            <a:pPr>
              <a:buFont typeface="Arial" panose="020B0604020202020204" pitchFamily="34" charset="0"/>
              <a:buChar char="•"/>
            </a:pPr>
            <a:r>
              <a:rPr lang="en-US" dirty="0"/>
              <a:t>DIY culture, sustainability, convenience and speed, brand communities</a:t>
            </a:r>
          </a:p>
          <a:p>
            <a:pPr marL="0" indent="0">
              <a:buNone/>
            </a:pPr>
            <a:r>
              <a:rPr lang="en-US" b="1" dirty="0"/>
              <a:t>Technology Trends</a:t>
            </a:r>
          </a:p>
          <a:p>
            <a:pPr>
              <a:buFont typeface="Arial" panose="020B0604020202020204" pitchFamily="34" charset="0"/>
              <a:buChar char="•"/>
            </a:pPr>
            <a:r>
              <a:rPr lang="en-US" dirty="0"/>
              <a:t>Smart devices, battery technology, app integration, automation</a:t>
            </a:r>
          </a:p>
          <a:p>
            <a:pPr marL="0" indent="0">
              <a:buNone/>
            </a:pPr>
            <a:r>
              <a:rPr lang="en-US" b="1" dirty="0"/>
              <a:t>Competitive / Industry Trends</a:t>
            </a:r>
          </a:p>
          <a:p>
            <a:pPr>
              <a:buFont typeface="Arial" panose="020B0604020202020204" pitchFamily="34" charset="0"/>
              <a:buChar char="•"/>
            </a:pPr>
            <a:r>
              <a:rPr lang="en-US" dirty="0"/>
              <a:t>Consolidation, private labels, subscription models</a:t>
            </a:r>
          </a:p>
          <a:p>
            <a:pPr marL="0" indent="0">
              <a:lnSpc>
                <a:spcPct val="110000"/>
              </a:lnSpc>
              <a:spcBef>
                <a:spcPts val="2500"/>
              </a:spcBef>
              <a:buFont typeface="Arial" panose="020B0604020202020204" pitchFamily="34" charset="0"/>
              <a:buNone/>
            </a:pPr>
            <a:endParaRPr lang="en-US" b="1" dirty="0"/>
          </a:p>
        </p:txBody>
      </p:sp>
    </p:spTree>
    <p:extLst>
      <p:ext uri="{BB962C8B-B14F-4D97-AF65-F5344CB8AC3E}">
        <p14:creationId xmlns:p14="http://schemas.microsoft.com/office/powerpoint/2010/main" val="2701317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6861A-DEDD-1052-01E4-B511750B8A77}"/>
              </a:ext>
            </a:extLst>
          </p:cNvPr>
          <p:cNvSpPr>
            <a:spLocks noGrp="1"/>
          </p:cNvSpPr>
          <p:nvPr>
            <p:ph type="title"/>
          </p:nvPr>
        </p:nvSpPr>
        <p:spPr/>
        <p:txBody>
          <a:bodyPr>
            <a:noAutofit/>
          </a:bodyPr>
          <a:lstStyle/>
          <a:p>
            <a:r>
              <a:rPr lang="en-US" sz="2800" dirty="0"/>
              <a:t>New Product Presentation (in discussion Weeks 12&amp;13) </a:t>
            </a:r>
          </a:p>
        </p:txBody>
      </p:sp>
      <p:sp>
        <p:nvSpPr>
          <p:cNvPr id="3" name="Content Placeholder 2">
            <a:extLst>
              <a:ext uri="{FF2B5EF4-FFF2-40B4-BE49-F238E27FC236}">
                <a16:creationId xmlns:a16="http://schemas.microsoft.com/office/drawing/2014/main" id="{C7B6E895-7385-EFAF-8711-E000E7758308}"/>
              </a:ext>
            </a:extLst>
          </p:cNvPr>
          <p:cNvSpPr>
            <a:spLocks noGrp="1"/>
          </p:cNvSpPr>
          <p:nvPr>
            <p:ph idx="1"/>
          </p:nvPr>
        </p:nvSpPr>
        <p:spPr/>
        <p:txBody>
          <a:bodyPr>
            <a:normAutofit lnSpcReduction="10000"/>
          </a:bodyPr>
          <a:lstStyle/>
          <a:p>
            <a:pPr lvl="0"/>
            <a:r>
              <a:rPr lang="en-US" dirty="0"/>
              <a:t>Identify end user segment(s)</a:t>
            </a:r>
            <a:endParaRPr lang="en-US" sz="3200" dirty="0"/>
          </a:p>
          <a:p>
            <a:pPr lvl="0"/>
            <a:r>
              <a:rPr lang="en-US" dirty="0"/>
              <a:t>Identify user pain points</a:t>
            </a:r>
            <a:endParaRPr lang="en-US" sz="3200" dirty="0"/>
          </a:p>
          <a:p>
            <a:pPr lvl="0"/>
            <a:r>
              <a:rPr lang="en-US" dirty="0"/>
              <a:t>Discuss the market opportunity</a:t>
            </a:r>
            <a:endParaRPr lang="en-US" sz="3200" dirty="0"/>
          </a:p>
          <a:p>
            <a:pPr lvl="0"/>
            <a:r>
              <a:rPr lang="en-US" dirty="0"/>
              <a:t>Who and what are the main competitors</a:t>
            </a:r>
            <a:endParaRPr lang="en-US" sz="3200" dirty="0"/>
          </a:p>
          <a:p>
            <a:pPr lvl="0"/>
            <a:r>
              <a:rPr lang="en-US" dirty="0"/>
              <a:t>Product proposal:</a:t>
            </a:r>
            <a:endParaRPr lang="en-US" sz="3200" dirty="0"/>
          </a:p>
          <a:p>
            <a:pPr lvl="1"/>
            <a:r>
              <a:rPr lang="en-US" dirty="0"/>
              <a:t>Key features vs. nice to have</a:t>
            </a:r>
            <a:endParaRPr lang="en-US" sz="2800" dirty="0"/>
          </a:p>
          <a:p>
            <a:pPr lvl="1"/>
            <a:r>
              <a:rPr lang="en-US" dirty="0"/>
              <a:t>Retail price</a:t>
            </a:r>
            <a:endParaRPr lang="en-US" sz="2800" dirty="0"/>
          </a:p>
          <a:p>
            <a:pPr lvl="1"/>
            <a:r>
              <a:rPr lang="en-US" dirty="0"/>
              <a:t>How will the product be distributed?</a:t>
            </a:r>
            <a:endParaRPr lang="en-US" sz="2800" dirty="0"/>
          </a:p>
          <a:p>
            <a:pPr lvl="1"/>
            <a:r>
              <a:rPr lang="en-US" dirty="0"/>
              <a:t>How will you drive awareness/sales?</a:t>
            </a:r>
            <a:endParaRPr lang="en-US" sz="2800" dirty="0"/>
          </a:p>
          <a:p>
            <a:endParaRPr lang="en-US" dirty="0"/>
          </a:p>
        </p:txBody>
      </p:sp>
    </p:spTree>
    <p:extLst>
      <p:ext uri="{BB962C8B-B14F-4D97-AF65-F5344CB8AC3E}">
        <p14:creationId xmlns:p14="http://schemas.microsoft.com/office/powerpoint/2010/main" val="3801287041"/>
      </p:ext>
    </p:extLst>
  </p:cSld>
  <p:clrMapOvr>
    <a:masterClrMapping/>
  </p:clrMapOvr>
</p:sld>
</file>

<file path=ppt/theme/theme1.xml><?xml version="1.0" encoding="utf-8"?>
<a:theme xmlns:a="http://schemas.openxmlformats.org/drawingml/2006/main" name="2_Office Theme">
  <a:themeElements>
    <a:clrScheme name="IOWA BRAND COLORS">
      <a:dk1>
        <a:srgbClr val="000000"/>
      </a:dk1>
      <a:lt1>
        <a:srgbClr val="FFFFFF"/>
      </a:lt1>
      <a:dk2>
        <a:srgbClr val="62666A"/>
      </a:dk2>
      <a:lt2>
        <a:srgbClr val="BBBCBC"/>
      </a:lt2>
      <a:accent1>
        <a:srgbClr val="FFCD00"/>
      </a:accent1>
      <a:accent2>
        <a:srgbClr val="616669"/>
      </a:accent2>
      <a:accent3>
        <a:srgbClr val="BBBCBC"/>
      </a:accent3>
      <a:accent4>
        <a:srgbClr val="00A9E0"/>
      </a:accent4>
      <a:accent5>
        <a:srgbClr val="00AF66"/>
      </a:accent5>
      <a:accent6>
        <a:srgbClr val="FF8200"/>
      </a:accent6>
      <a:hlink>
        <a:srgbClr val="00558C"/>
      </a:hlink>
      <a:folHlink>
        <a:srgbClr val="63666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1765</Words>
  <Application>Microsoft Macintosh PowerPoint</Application>
  <PresentationFormat>Widescreen</PresentationFormat>
  <Paragraphs>70</Paragraphs>
  <Slides>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Calibri</vt:lpstr>
      <vt:lpstr>2_Office Theme</vt:lpstr>
      <vt:lpstr>Market Research Paper (due Friday, March 6, 11:59pm) </vt:lpstr>
      <vt:lpstr>SWOT Analysis Overview</vt:lpstr>
      <vt:lpstr>Competitor Analysis (a table?)</vt:lpstr>
      <vt:lpstr>Customer Analysis</vt:lpstr>
      <vt:lpstr>Marketing Mix (4Ps)</vt:lpstr>
      <vt:lpstr>Market Environment Trends (examples)</vt:lpstr>
      <vt:lpstr>New Product Presentation (in discussion Weeks 12&amp;13)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Rouwenhorst, Rob M</dc:creator>
  <cp:lastModifiedBy>Rouwenhorst, Rob M</cp:lastModifiedBy>
  <cp:revision>1</cp:revision>
  <dcterms:created xsi:type="dcterms:W3CDTF">2026-02-03T23:33:02Z</dcterms:created>
  <dcterms:modified xsi:type="dcterms:W3CDTF">2026-02-03T23:33:50Z</dcterms:modified>
</cp:coreProperties>
</file>